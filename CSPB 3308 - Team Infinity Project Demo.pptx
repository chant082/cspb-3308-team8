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Roboto"/>
      <p:regular r:id="rId23"/>
      <p:bold r:id="rId24"/>
      <p:italic r:id="rId25"/>
      <p:boldItalic r:id="rId26"/>
    </p:embeddedFont>
    <p:embeddedFont>
      <p:font typeface="Montserra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62B80D-A7AA-4933-82A0-7F32F041E560}">
  <a:tblStyle styleId="{F162B80D-A7AA-4933-82A0-7F32F041E56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ontserrat-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Montserrat-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6020079a8_0_2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6020079a8_0_2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Craig</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6020079a8_0_2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f6020079a8_0_2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Craig</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6020079a8_0_28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6020079a8_0_28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Craig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f6020079a8_0_2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f6020079a8_0_2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Adam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6020079a8_0_28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6020079a8_0_28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Hannah</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Create an account and log in/out</a:t>
            </a:r>
            <a:endParaRPr/>
          </a:p>
          <a:p>
            <a:pPr indent="0" lvl="0" marL="0" rtl="0" algn="l">
              <a:spcBef>
                <a:spcPts val="0"/>
              </a:spcBef>
              <a:spcAft>
                <a:spcPts val="0"/>
              </a:spcAft>
              <a:buClr>
                <a:schemeClr val="dk1"/>
              </a:buClr>
              <a:buSzPts val="1100"/>
              <a:buFont typeface="Arial"/>
              <a:buNone/>
            </a:pPr>
            <a:r>
              <a:rPr lang="en"/>
              <a:t>Everyone (users and guests) can browse a list of CSPB courses and their respective reviews</a:t>
            </a:r>
            <a:endParaRPr/>
          </a:p>
          <a:p>
            <a:pPr indent="0" lvl="0" marL="0" rtl="0" algn="l">
              <a:spcBef>
                <a:spcPts val="0"/>
              </a:spcBef>
              <a:spcAft>
                <a:spcPts val="0"/>
              </a:spcAft>
              <a:buClr>
                <a:schemeClr val="dk1"/>
              </a:buClr>
              <a:buSzPts val="1100"/>
              <a:buFont typeface="Arial"/>
              <a:buNone/>
            </a:pPr>
            <a:r>
              <a:rPr lang="en"/>
              <a:t>All users can write one review per course, edit reviews, and upvote/downvote/flag reviews</a:t>
            </a:r>
            <a:endParaRPr/>
          </a:p>
          <a:p>
            <a:pPr indent="0" lvl="0" marL="0" rtl="0" algn="l">
              <a:spcBef>
                <a:spcPts val="0"/>
              </a:spcBef>
              <a:spcAft>
                <a:spcPts val="0"/>
              </a:spcAft>
              <a:buClr>
                <a:schemeClr val="dk1"/>
              </a:buClr>
              <a:buSzPts val="1100"/>
              <a:buFont typeface="Arial"/>
              <a:buNone/>
            </a:pPr>
            <a:r>
              <a:rPr lang="en"/>
              <a:t>Admins have extra privileges to create/edit courses, view users and moderate flagged reviews via an Admin Panel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63c885b3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63c885b3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Sean</a:t>
            </a:r>
            <a:br>
              <a:rPr lang="en"/>
            </a:br>
            <a:br>
              <a:rPr lang="en"/>
            </a:br>
            <a:r>
              <a:rPr lang="en"/>
              <a:t>For this project, we use a software architecture based on Flask. Users can interact with the application through a web browser by sending HTTP requests. The Flask application (app.py) defines routes for various pages, handles user requests, checks logic, and communicates with the SQLite database. The database stores the data in three main tables: Users, Courses, and Reviews. SQLite is easy to deploy and to maintain. Flask can retrieve and update data through database API methods and then render HTML pages using Jinja templates. We also use CSS files to provide a consistent visual design for all HTML pages. This architecture allows us to separate the application into several aspects: routing, data management, data presentation, and styling. It makes the project easier to develop, maintain, and expand.</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6020079a8_0_28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6020079a8_0_28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Craig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6288f809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6288f809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Adam</a:t>
            </a:r>
            <a:endParaRPr/>
          </a:p>
          <a:p>
            <a:pPr indent="-298450" lvl="0" marL="457200" rtl="0" algn="l">
              <a:spcBef>
                <a:spcPts val="0"/>
              </a:spcBef>
              <a:spcAft>
                <a:spcPts val="0"/>
              </a:spcAft>
              <a:buSzPts val="1100"/>
              <a:buChar char="-"/>
            </a:pPr>
            <a:r>
              <a:rPr lang="en"/>
              <a:t>Weekly scrum meetings to discuss each milestone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6020079a8_0_2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6020079a8_0_2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Hannah</a:t>
            </a:r>
            <a:endParaRPr/>
          </a:p>
          <a:p>
            <a:pPr indent="-298450" lvl="0" marL="457200" rtl="0" algn="l">
              <a:spcBef>
                <a:spcPts val="0"/>
              </a:spcBef>
              <a:spcAft>
                <a:spcPts val="0"/>
              </a:spcAft>
              <a:buSzPts val="1100"/>
              <a:buChar char="-"/>
            </a:pPr>
            <a:r>
              <a:rPr lang="en"/>
              <a:t>This is an overview of what each team member worked 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6020079a8_0_28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6020079a8_0_2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rgbClr val="737373"/>
                </a:solidFill>
                <a:latin typeface="Montserrat"/>
                <a:ea typeface="Montserrat"/>
                <a:cs typeface="Montserrat"/>
                <a:sym typeface="Montserrat"/>
              </a:rPr>
              <a:t>Hannah</a:t>
            </a:r>
            <a:endParaRPr sz="900">
              <a:solidFill>
                <a:srgbClr val="737373"/>
              </a:solidFill>
              <a:latin typeface="Montserrat"/>
              <a:ea typeface="Montserrat"/>
              <a:cs typeface="Montserrat"/>
              <a:sym typeface="Montserrat"/>
            </a:endParaRPr>
          </a:p>
          <a:p>
            <a:pPr indent="0" lvl="0" marL="0" rtl="0" algn="l">
              <a:lnSpc>
                <a:spcPct val="115000"/>
              </a:lnSpc>
              <a:spcBef>
                <a:spcPts val="1200"/>
              </a:spcBef>
              <a:spcAft>
                <a:spcPts val="0"/>
              </a:spcAft>
              <a:buClr>
                <a:schemeClr val="dk1"/>
              </a:buClr>
              <a:buSzPts val="1100"/>
              <a:buFont typeface="Arial"/>
              <a:buNone/>
            </a:pPr>
            <a:r>
              <a:rPr lang="en" sz="900">
                <a:solidFill>
                  <a:srgbClr val="737373"/>
                </a:solidFill>
                <a:latin typeface="Montserrat"/>
                <a:ea typeface="Montserrat"/>
                <a:cs typeface="Montserrat"/>
                <a:sym typeface="Montserrat"/>
              </a:rPr>
              <a:t>Go through core features</a:t>
            </a:r>
            <a:endParaRPr sz="900">
              <a:solidFill>
                <a:srgbClr val="737373"/>
              </a:solidFill>
              <a:latin typeface="Montserrat"/>
              <a:ea typeface="Montserrat"/>
              <a:cs typeface="Montserrat"/>
              <a:sym typeface="Montserrat"/>
            </a:endParaRPr>
          </a:p>
          <a:p>
            <a:pPr indent="-285750" lvl="0" marL="457200" rtl="0" algn="l">
              <a:lnSpc>
                <a:spcPct val="115000"/>
              </a:lnSpc>
              <a:spcBef>
                <a:spcPts val="1200"/>
              </a:spcBef>
              <a:spcAft>
                <a:spcPts val="0"/>
              </a:spcAft>
              <a:buClr>
                <a:srgbClr val="737373"/>
              </a:buClr>
              <a:buSzPts val="900"/>
              <a:buFont typeface="Montserrat"/>
              <a:buChar char="-"/>
            </a:pPr>
            <a:r>
              <a:rPr lang="en" sz="900">
                <a:solidFill>
                  <a:srgbClr val="737373"/>
                </a:solidFill>
                <a:latin typeface="Montserrat"/>
                <a:ea typeface="Montserrat"/>
                <a:cs typeface="Montserrat"/>
                <a:sym typeface="Montserrat"/>
              </a:rPr>
              <a:t>Show home, about pages as guest first</a:t>
            </a:r>
            <a:endParaRPr sz="900">
              <a:solidFill>
                <a:srgbClr val="737373"/>
              </a:solidFill>
              <a:latin typeface="Montserrat"/>
              <a:ea typeface="Montserrat"/>
              <a:cs typeface="Montserrat"/>
              <a:sym typeface="Montserrat"/>
            </a:endParaRPr>
          </a:p>
          <a:p>
            <a:pPr indent="-285750" lvl="0" marL="457200" rtl="0" algn="l">
              <a:lnSpc>
                <a:spcPct val="115000"/>
              </a:lnSpc>
              <a:spcBef>
                <a:spcPts val="0"/>
              </a:spcBef>
              <a:spcAft>
                <a:spcPts val="0"/>
              </a:spcAft>
              <a:buClr>
                <a:srgbClr val="737373"/>
              </a:buClr>
              <a:buSzPts val="900"/>
              <a:buFont typeface="Montserrat"/>
              <a:buChar char="-"/>
            </a:pPr>
            <a:r>
              <a:rPr lang="en" sz="900">
                <a:solidFill>
                  <a:srgbClr val="737373"/>
                </a:solidFill>
                <a:latin typeface="Montserrat"/>
                <a:ea typeface="Montserrat"/>
                <a:cs typeface="Montserrat"/>
                <a:sym typeface="Montserrat"/>
              </a:rPr>
              <a:t>Create account and log in, note how nav bar changes</a:t>
            </a:r>
            <a:endParaRPr sz="900">
              <a:solidFill>
                <a:srgbClr val="737373"/>
              </a:solidFill>
              <a:latin typeface="Montserrat"/>
              <a:ea typeface="Montserrat"/>
              <a:cs typeface="Montserrat"/>
              <a:sym typeface="Montserrat"/>
            </a:endParaRPr>
          </a:p>
          <a:p>
            <a:pPr indent="-285750" lvl="0" marL="457200" rtl="0" algn="l">
              <a:lnSpc>
                <a:spcPct val="115000"/>
              </a:lnSpc>
              <a:spcBef>
                <a:spcPts val="0"/>
              </a:spcBef>
              <a:spcAft>
                <a:spcPts val="0"/>
              </a:spcAft>
              <a:buClr>
                <a:srgbClr val="737373"/>
              </a:buClr>
              <a:buSzPts val="900"/>
              <a:buFont typeface="Montserrat"/>
              <a:buChar char="-"/>
            </a:pPr>
            <a:r>
              <a:rPr lang="en" sz="900">
                <a:solidFill>
                  <a:srgbClr val="737373"/>
                </a:solidFill>
                <a:latin typeface="Montserrat"/>
                <a:ea typeface="Montserrat"/>
                <a:cs typeface="Montserrat"/>
                <a:sym typeface="Montserrat"/>
              </a:rPr>
              <a:t>Browse courses and reviews on course detail page. Review actions. Write a review, edit review</a:t>
            </a:r>
            <a:endParaRPr sz="900">
              <a:solidFill>
                <a:srgbClr val="737373"/>
              </a:solidFill>
              <a:latin typeface="Montserrat"/>
              <a:ea typeface="Montserrat"/>
              <a:cs typeface="Montserrat"/>
              <a:sym typeface="Montserrat"/>
            </a:endParaRPr>
          </a:p>
          <a:p>
            <a:pPr indent="-285750" lvl="0" marL="457200" rtl="0" algn="l">
              <a:lnSpc>
                <a:spcPct val="115000"/>
              </a:lnSpc>
              <a:spcBef>
                <a:spcPts val="0"/>
              </a:spcBef>
              <a:spcAft>
                <a:spcPts val="0"/>
              </a:spcAft>
              <a:buClr>
                <a:srgbClr val="737373"/>
              </a:buClr>
              <a:buSzPts val="900"/>
              <a:buFont typeface="Montserrat"/>
              <a:buChar char="-"/>
            </a:pPr>
            <a:r>
              <a:rPr lang="en" sz="900">
                <a:solidFill>
                  <a:srgbClr val="737373"/>
                </a:solidFill>
                <a:latin typeface="Montserrat"/>
                <a:ea typeface="Montserrat"/>
                <a:cs typeface="Montserrat"/>
                <a:sym typeface="Montserrat"/>
              </a:rPr>
              <a:t>Login as admin to do admin actions (add &amp; edit courses)</a:t>
            </a:r>
            <a:endParaRPr sz="900">
              <a:solidFill>
                <a:srgbClr val="737373"/>
              </a:solidFill>
              <a:latin typeface="Montserrat"/>
              <a:ea typeface="Montserrat"/>
              <a:cs typeface="Montserrat"/>
              <a:sym typeface="Montserrat"/>
            </a:endParaRPr>
          </a:p>
          <a:p>
            <a:pPr indent="-285750" lvl="0" marL="457200" rtl="0" algn="l">
              <a:lnSpc>
                <a:spcPct val="115000"/>
              </a:lnSpc>
              <a:spcBef>
                <a:spcPts val="0"/>
              </a:spcBef>
              <a:spcAft>
                <a:spcPts val="0"/>
              </a:spcAft>
              <a:buClr>
                <a:srgbClr val="737373"/>
              </a:buClr>
              <a:buSzPts val="900"/>
              <a:buFont typeface="Montserrat"/>
              <a:buChar char="-"/>
            </a:pPr>
            <a:r>
              <a:rPr lang="en" sz="900">
                <a:solidFill>
                  <a:srgbClr val="737373"/>
                </a:solidFill>
                <a:latin typeface="Montserrat"/>
                <a:ea typeface="Montserrat"/>
                <a:cs typeface="Montserrat"/>
                <a:sym typeface="Montserrat"/>
              </a:rPr>
              <a:t>Show that data persists between sessions</a:t>
            </a:r>
            <a:endParaRPr sz="900">
              <a:solidFill>
                <a:srgbClr val="737373"/>
              </a:solidFill>
              <a:latin typeface="Montserrat"/>
              <a:ea typeface="Montserrat"/>
              <a:cs typeface="Montserrat"/>
              <a:sym typeface="Montserrat"/>
            </a:endParaRPr>
          </a:p>
          <a:p>
            <a:pPr indent="-285750" lvl="0" marL="457200" rtl="0" algn="l">
              <a:lnSpc>
                <a:spcPct val="115000"/>
              </a:lnSpc>
              <a:spcBef>
                <a:spcPts val="0"/>
              </a:spcBef>
              <a:spcAft>
                <a:spcPts val="0"/>
              </a:spcAft>
              <a:buClr>
                <a:srgbClr val="737373"/>
              </a:buClr>
              <a:buSzPts val="900"/>
              <a:buFont typeface="Montserrat"/>
              <a:buChar char="-"/>
            </a:pPr>
            <a:r>
              <a:rPr lang="en" sz="900">
                <a:solidFill>
                  <a:srgbClr val="737373"/>
                </a:solidFill>
                <a:latin typeface="Montserrat"/>
                <a:ea typeface="Montserrat"/>
                <a:cs typeface="Montserrat"/>
                <a:sym typeface="Montserrat"/>
              </a:rPr>
              <a:t>Mention a few things we plan to add in the future during demo</a:t>
            </a:r>
            <a:endParaRPr sz="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f6020079a8_0_2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f6020079a8_0_2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737373"/>
                </a:solidFill>
              </a:rPr>
              <a:t>Sean</a:t>
            </a:r>
            <a:endParaRPr>
              <a:solidFill>
                <a:srgbClr val="737373"/>
              </a:solidFill>
            </a:endParaRPr>
          </a:p>
          <a:p>
            <a:pPr indent="-298450" lvl="0" marL="457200" rtl="0" algn="l">
              <a:lnSpc>
                <a:spcPct val="115000"/>
              </a:lnSpc>
              <a:spcBef>
                <a:spcPts val="1200"/>
              </a:spcBef>
              <a:spcAft>
                <a:spcPts val="0"/>
              </a:spcAft>
              <a:buClr>
                <a:srgbClr val="737373"/>
              </a:buClr>
              <a:buSzPts val="1100"/>
              <a:buChar char="-"/>
            </a:pPr>
            <a:r>
              <a:rPr lang="en">
                <a:solidFill>
                  <a:srgbClr val="737373"/>
                </a:solidFill>
              </a:rPr>
              <a:t>If our schedule permits, we are interested in working on the project even after this semester.</a:t>
            </a:r>
            <a:endParaRPr>
              <a:solidFill>
                <a:srgbClr val="737373"/>
              </a:solidFill>
            </a:endParaRPr>
          </a:p>
          <a:p>
            <a:pPr indent="-298450" lvl="0" marL="457200" rtl="0" algn="l">
              <a:lnSpc>
                <a:spcPct val="115000"/>
              </a:lnSpc>
              <a:spcBef>
                <a:spcPts val="0"/>
              </a:spcBef>
              <a:spcAft>
                <a:spcPts val="0"/>
              </a:spcAft>
              <a:buClr>
                <a:srgbClr val="737373"/>
              </a:buClr>
              <a:buSzPts val="1100"/>
              <a:buAutoNum type="arabicPeriod"/>
            </a:pPr>
            <a:r>
              <a:rPr lang="en">
                <a:solidFill>
                  <a:srgbClr val="737373"/>
                </a:solidFill>
              </a:rPr>
              <a:t>Support adding profile/course pictures and the ability to edit them</a:t>
            </a:r>
            <a:endParaRPr>
              <a:solidFill>
                <a:srgbClr val="737373"/>
              </a:solidFill>
            </a:endParaRPr>
          </a:p>
          <a:p>
            <a:pPr indent="-298450" lvl="0" marL="457200" rtl="0" algn="l">
              <a:lnSpc>
                <a:spcPct val="115000"/>
              </a:lnSpc>
              <a:spcBef>
                <a:spcPts val="0"/>
              </a:spcBef>
              <a:spcAft>
                <a:spcPts val="0"/>
              </a:spcAft>
              <a:buClr>
                <a:srgbClr val="737373"/>
              </a:buClr>
              <a:buSzPts val="1100"/>
              <a:buAutoNum type="arabicPeriod"/>
            </a:pPr>
            <a:r>
              <a:rPr lang="en">
                <a:solidFill>
                  <a:srgbClr val="737373"/>
                </a:solidFill>
              </a:rPr>
              <a:t>Support more username, email, password validation - Password hashes, </a:t>
            </a:r>
            <a:r>
              <a:rPr lang="en">
                <a:solidFill>
                  <a:srgbClr val="737373"/>
                </a:solidFill>
              </a:rPr>
              <a:t>retrieve</a:t>
            </a:r>
            <a:r>
              <a:rPr lang="en">
                <a:solidFill>
                  <a:srgbClr val="737373"/>
                </a:solidFill>
              </a:rPr>
              <a:t> forgotten username/password, automatic username generation, change username</a:t>
            </a:r>
            <a:endParaRPr>
              <a:solidFill>
                <a:srgbClr val="737373"/>
              </a:solidFill>
            </a:endParaRPr>
          </a:p>
          <a:p>
            <a:pPr indent="-298450" lvl="0" marL="457200" rtl="0" algn="l">
              <a:lnSpc>
                <a:spcPct val="115000"/>
              </a:lnSpc>
              <a:spcBef>
                <a:spcPts val="0"/>
              </a:spcBef>
              <a:spcAft>
                <a:spcPts val="0"/>
              </a:spcAft>
              <a:buClr>
                <a:srgbClr val="737373"/>
              </a:buClr>
              <a:buSzPts val="1100"/>
              <a:buAutoNum type="arabicPeriod"/>
            </a:pPr>
            <a:r>
              <a:rPr lang="en">
                <a:solidFill>
                  <a:srgbClr val="737373"/>
                </a:solidFill>
              </a:rPr>
              <a:t>Support more admin operations: ban users, give or remove admin privileges, delete flagged reviews</a:t>
            </a:r>
            <a:endParaRPr>
              <a:solidFill>
                <a:srgbClr val="737373"/>
              </a:solidFill>
            </a:endParaRPr>
          </a:p>
          <a:p>
            <a:pPr indent="-298450" lvl="0" marL="457200" rtl="0" algn="l">
              <a:lnSpc>
                <a:spcPct val="115000"/>
              </a:lnSpc>
              <a:spcBef>
                <a:spcPts val="0"/>
              </a:spcBef>
              <a:spcAft>
                <a:spcPts val="0"/>
              </a:spcAft>
              <a:buClr>
                <a:srgbClr val="737373"/>
              </a:buClr>
              <a:buSzPts val="1100"/>
              <a:buAutoNum type="arabicPeriod"/>
            </a:pPr>
            <a:r>
              <a:rPr lang="en">
                <a:solidFill>
                  <a:srgbClr val="737373"/>
                </a:solidFill>
              </a:rPr>
              <a:t>Support more review features - leave comments on each review</a:t>
            </a:r>
            <a:endParaRPr>
              <a:solidFill>
                <a:srgbClr val="737373"/>
              </a:solidFill>
            </a:endParaRPr>
          </a:p>
          <a:p>
            <a:pPr indent="-298450" lvl="0" marL="457200" rtl="0" algn="l">
              <a:lnSpc>
                <a:spcPct val="115000"/>
              </a:lnSpc>
              <a:spcBef>
                <a:spcPts val="0"/>
              </a:spcBef>
              <a:spcAft>
                <a:spcPts val="0"/>
              </a:spcAft>
              <a:buClr>
                <a:srgbClr val="737373"/>
              </a:buClr>
              <a:buSzPts val="1100"/>
              <a:buAutoNum type="arabicPeriod"/>
            </a:pPr>
            <a:r>
              <a:rPr lang="en">
                <a:solidFill>
                  <a:srgbClr val="737373"/>
                </a:solidFill>
              </a:rPr>
              <a:t>Support filtering - add filters for searching courses and reviews and sort reviews in certain ways</a:t>
            </a:r>
            <a:endParaRPr>
              <a:solidFill>
                <a:srgbClr val="737373"/>
              </a:solidFill>
            </a:endParaRPr>
          </a:p>
          <a:p>
            <a:pPr indent="-298450" lvl="0" marL="457200" rtl="0" algn="l">
              <a:lnSpc>
                <a:spcPct val="115000"/>
              </a:lnSpc>
              <a:spcBef>
                <a:spcPts val="0"/>
              </a:spcBef>
              <a:spcAft>
                <a:spcPts val="0"/>
              </a:spcAft>
              <a:buClr>
                <a:srgbClr val="737373"/>
              </a:buClr>
              <a:buSzPts val="1100"/>
              <a:buAutoNum type="arabicPeriod"/>
            </a:pPr>
            <a:r>
              <a:rPr lang="en">
                <a:solidFill>
                  <a:srgbClr val="737373"/>
                </a:solidFill>
              </a:rPr>
              <a:t>Better responsiveness for smaller screens such as </a:t>
            </a:r>
            <a:r>
              <a:rPr lang="en">
                <a:solidFill>
                  <a:srgbClr val="737373"/>
                </a:solidFill>
              </a:rPr>
              <a:t>smartphones</a:t>
            </a:r>
            <a:r>
              <a:rPr lang="en">
                <a:solidFill>
                  <a:srgbClr val="737373"/>
                </a:solidFill>
              </a:rPr>
              <a:t> - currently works best on desktop size screens</a:t>
            </a:r>
            <a:endParaRPr>
              <a:solidFill>
                <a:srgbClr val="737373"/>
              </a:solidFill>
            </a:endParaRPr>
          </a:p>
          <a:p>
            <a:pPr indent="-298450" lvl="0" marL="457200" rtl="0" algn="l">
              <a:lnSpc>
                <a:spcPct val="115000"/>
              </a:lnSpc>
              <a:spcBef>
                <a:spcPts val="0"/>
              </a:spcBef>
              <a:spcAft>
                <a:spcPts val="0"/>
              </a:spcAft>
              <a:buClr>
                <a:srgbClr val="737373"/>
              </a:buClr>
              <a:buSzPts val="1100"/>
              <a:buAutoNum type="arabicPeriod"/>
            </a:pPr>
            <a:r>
              <a:rPr lang="en">
                <a:solidFill>
                  <a:srgbClr val="737373"/>
                </a:solidFill>
              </a:rPr>
              <a:t>Increase database resilience -  make the DB more defensive against invalid input, and we may migrate to postgresql and separating app from db </a:t>
            </a:r>
            <a:endParaRPr>
              <a:solidFill>
                <a:srgbClr val="737373"/>
              </a:solidFill>
            </a:endParaRPr>
          </a:p>
          <a:p>
            <a:pPr indent="0" lvl="0" marL="0" rtl="0" algn="l">
              <a:lnSpc>
                <a:spcPct val="115000"/>
              </a:lnSpc>
              <a:spcBef>
                <a:spcPts val="1200"/>
              </a:spcBef>
              <a:spcAft>
                <a:spcPts val="0"/>
              </a:spcAft>
              <a:buNone/>
            </a:pPr>
            <a:r>
              <a:t/>
            </a:r>
            <a:endParaRPr>
              <a:solidFill>
                <a:srgbClr val="737373"/>
              </a:solidFill>
            </a:endParaRPr>
          </a:p>
          <a:p>
            <a:pPr indent="0" lvl="0" marL="0" rtl="0" algn="l">
              <a:lnSpc>
                <a:spcPct val="115000"/>
              </a:lnSpc>
              <a:spcBef>
                <a:spcPts val="1200"/>
              </a:spcBef>
              <a:spcAft>
                <a:spcPts val="1200"/>
              </a:spcAft>
              <a:buNone/>
            </a:pPr>
            <a:r>
              <a:t/>
            </a:r>
            <a:endParaRPr>
              <a:solidFill>
                <a:srgbClr val="737373"/>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6170e2ad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6170e2ad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Adam</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9850af74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9850af74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Adam</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6288f809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6288f809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Craig</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6020079a8_0_2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f6020079a8_0_2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6020079a8_0_2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f6020079a8_0_2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66" name="Shape 66"/>
        <p:cNvGrpSpPr/>
        <p:nvPr/>
      </p:nvGrpSpPr>
      <p:grpSpPr>
        <a:xfrm>
          <a:off x="0" y="0"/>
          <a:ext cx="0" cy="0"/>
          <a:chOff x="0" y="0"/>
          <a:chExt cx="0" cy="0"/>
        </a:xfrm>
      </p:grpSpPr>
      <p:sp>
        <p:nvSpPr>
          <p:cNvPr id="67" name="Google Shape;67;p13"/>
          <p:cNvSpPr txBox="1"/>
          <p:nvPr>
            <p:ph type="ctrTitle"/>
          </p:nvPr>
        </p:nvSpPr>
        <p:spPr>
          <a:xfrm>
            <a:off x="460950" y="2152050"/>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3800">
                <a:latin typeface="Montserrat"/>
                <a:ea typeface="Montserrat"/>
                <a:cs typeface="Montserrat"/>
                <a:sym typeface="Montserrat"/>
              </a:rPr>
              <a:t>Project Demo</a:t>
            </a:r>
            <a:endParaRPr sz="3800">
              <a:latin typeface="Montserrat"/>
              <a:ea typeface="Montserrat"/>
              <a:cs typeface="Montserrat"/>
              <a:sym typeface="Montserrat"/>
            </a:endParaRPr>
          </a:p>
        </p:txBody>
      </p:sp>
      <p:sp>
        <p:nvSpPr>
          <p:cNvPr id="68" name="Google Shape;68;p13"/>
          <p:cNvSpPr txBox="1"/>
          <p:nvPr>
            <p:ph idx="1" type="subTitle"/>
          </p:nvPr>
        </p:nvSpPr>
        <p:spPr>
          <a:xfrm>
            <a:off x="183275" y="4597855"/>
            <a:ext cx="8222100" cy="4329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n">
                <a:latin typeface="Montserrat"/>
                <a:ea typeface="Montserrat"/>
                <a:cs typeface="Montserrat"/>
                <a:sym typeface="Montserrat"/>
              </a:rPr>
              <a:t>Team Infinity:</a:t>
            </a:r>
            <a:r>
              <a:rPr lang="en">
                <a:latin typeface="Montserrat"/>
                <a:ea typeface="Montserrat"/>
                <a:cs typeface="Montserrat"/>
                <a:sym typeface="Montserrat"/>
              </a:rPr>
              <a:t> Hannah Pfeifer, Adam Chathankeo, Sean Lin, Craig Sanders</a:t>
            </a:r>
            <a:endParaRPr>
              <a:latin typeface="Montserrat"/>
              <a:ea typeface="Montserrat"/>
              <a:cs typeface="Montserrat"/>
              <a:sym typeface="Montserrat"/>
            </a:endParaRPr>
          </a:p>
        </p:txBody>
      </p:sp>
      <p:pic>
        <p:nvPicPr>
          <p:cNvPr id="69" name="Google Shape;69;p13" title="2.png"/>
          <p:cNvPicPr preferRelativeResize="0"/>
          <p:nvPr/>
        </p:nvPicPr>
        <p:blipFill rotWithShape="1">
          <a:blip r:embed="rId3">
            <a:alphaModFix/>
          </a:blip>
          <a:srcRect b="39941" l="0" r="0" t="40776"/>
          <a:stretch/>
        </p:blipFill>
        <p:spPr>
          <a:xfrm>
            <a:off x="477675" y="357275"/>
            <a:ext cx="8188650" cy="157893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73" name="Shape 73"/>
        <p:cNvGrpSpPr/>
        <p:nvPr/>
      </p:nvGrpSpPr>
      <p:grpSpPr>
        <a:xfrm>
          <a:off x="0" y="0"/>
          <a:ext cx="0" cy="0"/>
          <a:chOff x="0" y="0"/>
          <a:chExt cx="0" cy="0"/>
        </a:xfrm>
      </p:grpSpPr>
      <p:sp>
        <p:nvSpPr>
          <p:cNvPr id="74" name="Google Shape;74;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Montserrat"/>
                <a:ea typeface="Montserrat"/>
                <a:cs typeface="Montserrat"/>
                <a:sym typeface="Montserrat"/>
              </a:rPr>
              <a:t>Agenda</a:t>
            </a:r>
            <a:endParaRPr>
              <a:latin typeface="Montserrat"/>
              <a:ea typeface="Montserrat"/>
              <a:cs typeface="Montserrat"/>
              <a:sym typeface="Montserrat"/>
            </a:endParaRPr>
          </a:p>
        </p:txBody>
      </p:sp>
      <p:sp>
        <p:nvSpPr>
          <p:cNvPr id="75" name="Google Shape;75;p14"/>
          <p:cNvSpPr txBox="1"/>
          <p:nvPr>
            <p:ph idx="1" type="body"/>
          </p:nvPr>
        </p:nvSpPr>
        <p:spPr>
          <a:xfrm>
            <a:off x="311250" y="1774450"/>
            <a:ext cx="8521500" cy="3244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Font typeface="Montserrat"/>
              <a:buChar char="●"/>
            </a:pPr>
            <a:r>
              <a:rPr lang="en">
                <a:latin typeface="Montserrat"/>
                <a:ea typeface="Montserrat"/>
                <a:cs typeface="Montserrat"/>
                <a:sym typeface="Montserrat"/>
              </a:rPr>
              <a:t>Purpose &amp; User Story</a:t>
            </a:r>
            <a:endParaRPr>
              <a:latin typeface="Montserrat"/>
              <a:ea typeface="Montserrat"/>
              <a:cs typeface="Montserrat"/>
              <a:sym typeface="Montserrat"/>
            </a:endParaRPr>
          </a:p>
          <a:p>
            <a:pPr indent="-342900" lvl="0" marL="457200" rtl="0" algn="l">
              <a:spcBef>
                <a:spcPts val="0"/>
              </a:spcBef>
              <a:spcAft>
                <a:spcPts val="0"/>
              </a:spcAft>
              <a:buSzPts val="1800"/>
              <a:buFont typeface="Montserrat"/>
              <a:buChar char="●"/>
            </a:pPr>
            <a:r>
              <a:rPr lang="en">
                <a:latin typeface="Montserrat"/>
                <a:ea typeface="Montserrat"/>
                <a:cs typeface="Montserrat"/>
                <a:sym typeface="Montserrat"/>
              </a:rPr>
              <a:t>Our Project &amp; MVP</a:t>
            </a:r>
            <a:endParaRPr>
              <a:latin typeface="Montserrat"/>
              <a:ea typeface="Montserrat"/>
              <a:cs typeface="Montserrat"/>
              <a:sym typeface="Montserrat"/>
            </a:endParaRPr>
          </a:p>
          <a:p>
            <a:pPr indent="-342900" lvl="0" marL="457200" rtl="0" algn="l">
              <a:spcBef>
                <a:spcPts val="0"/>
              </a:spcBef>
              <a:spcAft>
                <a:spcPts val="0"/>
              </a:spcAft>
              <a:buSzPts val="1800"/>
              <a:buFont typeface="Montserrat"/>
              <a:buChar char="●"/>
            </a:pPr>
            <a:r>
              <a:rPr lang="en">
                <a:latin typeface="Montserrat"/>
                <a:ea typeface="Montserrat"/>
                <a:cs typeface="Montserrat"/>
                <a:sym typeface="Montserrat"/>
              </a:rPr>
              <a:t>Core Features</a:t>
            </a:r>
            <a:endParaRPr>
              <a:latin typeface="Montserrat"/>
              <a:ea typeface="Montserrat"/>
              <a:cs typeface="Montserrat"/>
              <a:sym typeface="Montserrat"/>
            </a:endParaRPr>
          </a:p>
          <a:p>
            <a:pPr indent="-342900" lvl="0" marL="457200" rtl="0" algn="l">
              <a:spcBef>
                <a:spcPts val="0"/>
              </a:spcBef>
              <a:spcAft>
                <a:spcPts val="0"/>
              </a:spcAft>
              <a:buSzPts val="1800"/>
              <a:buFont typeface="Montserrat"/>
              <a:buChar char="●"/>
            </a:pPr>
            <a:r>
              <a:rPr lang="en">
                <a:latin typeface="Montserrat"/>
                <a:ea typeface="Montserrat"/>
                <a:cs typeface="Montserrat"/>
                <a:sym typeface="Montserrat"/>
              </a:rPr>
              <a:t>High-level Architecture</a:t>
            </a:r>
            <a:endParaRPr>
              <a:latin typeface="Montserrat"/>
              <a:ea typeface="Montserrat"/>
              <a:cs typeface="Montserrat"/>
              <a:sym typeface="Montserrat"/>
            </a:endParaRPr>
          </a:p>
          <a:p>
            <a:pPr indent="-342900" lvl="0" marL="457200" rtl="0" algn="l">
              <a:spcBef>
                <a:spcPts val="0"/>
              </a:spcBef>
              <a:spcAft>
                <a:spcPts val="0"/>
              </a:spcAft>
              <a:buSzPts val="1800"/>
              <a:buFont typeface="Montserrat"/>
              <a:buChar char="●"/>
            </a:pPr>
            <a:r>
              <a:rPr lang="en">
                <a:latin typeface="Montserrat"/>
                <a:ea typeface="Montserrat"/>
                <a:cs typeface="Montserrat"/>
                <a:sym typeface="Montserrat"/>
              </a:rPr>
              <a:t>Our Tools &amp; </a:t>
            </a:r>
            <a:r>
              <a:rPr lang="en">
                <a:latin typeface="Montserrat"/>
                <a:ea typeface="Montserrat"/>
                <a:cs typeface="Montserrat"/>
                <a:sym typeface="Montserrat"/>
              </a:rPr>
              <a:t>Process</a:t>
            </a:r>
            <a:endParaRPr>
              <a:latin typeface="Montserrat"/>
              <a:ea typeface="Montserrat"/>
              <a:cs typeface="Montserrat"/>
              <a:sym typeface="Montserrat"/>
            </a:endParaRPr>
          </a:p>
          <a:p>
            <a:pPr indent="-342900" lvl="0" marL="457200" rtl="0" algn="l">
              <a:spcBef>
                <a:spcPts val="0"/>
              </a:spcBef>
              <a:spcAft>
                <a:spcPts val="0"/>
              </a:spcAft>
              <a:buSzPts val="1800"/>
              <a:buFont typeface="Montserrat"/>
              <a:buChar char="●"/>
            </a:pPr>
            <a:r>
              <a:rPr lang="en">
                <a:latin typeface="Montserrat"/>
                <a:ea typeface="Montserrat"/>
                <a:cs typeface="Montserrat"/>
                <a:sym typeface="Montserrat"/>
              </a:rPr>
              <a:t>Our Team</a:t>
            </a:r>
            <a:endParaRPr>
              <a:latin typeface="Montserrat"/>
              <a:ea typeface="Montserrat"/>
              <a:cs typeface="Montserrat"/>
              <a:sym typeface="Montserrat"/>
            </a:endParaRPr>
          </a:p>
          <a:p>
            <a:pPr indent="-342900" lvl="0" marL="457200" rtl="0" algn="l">
              <a:spcBef>
                <a:spcPts val="0"/>
              </a:spcBef>
              <a:spcAft>
                <a:spcPts val="0"/>
              </a:spcAft>
              <a:buSzPts val="1800"/>
              <a:buFont typeface="Montserrat"/>
              <a:buChar char="●"/>
            </a:pPr>
            <a:r>
              <a:rPr lang="en">
                <a:latin typeface="Montserrat"/>
                <a:ea typeface="Montserrat"/>
                <a:cs typeface="Montserrat"/>
                <a:sym typeface="Montserrat"/>
              </a:rPr>
              <a:t>Demo</a:t>
            </a:r>
            <a:endParaRPr>
              <a:latin typeface="Montserrat"/>
              <a:ea typeface="Montserrat"/>
              <a:cs typeface="Montserrat"/>
              <a:sym typeface="Montserrat"/>
            </a:endParaRPr>
          </a:p>
          <a:p>
            <a:pPr indent="-342900" lvl="0" marL="457200" rtl="0" algn="l">
              <a:spcBef>
                <a:spcPts val="0"/>
              </a:spcBef>
              <a:spcAft>
                <a:spcPts val="0"/>
              </a:spcAft>
              <a:buSzPts val="1800"/>
              <a:buFont typeface="Montserrat"/>
              <a:buChar char="●"/>
            </a:pPr>
            <a:r>
              <a:rPr lang="en">
                <a:latin typeface="Montserrat"/>
                <a:ea typeface="Montserrat"/>
                <a:cs typeface="Montserrat"/>
                <a:sym typeface="Montserrat"/>
              </a:rPr>
              <a:t>Future Features &amp; Improvements</a:t>
            </a:r>
            <a:endParaRPr>
              <a:latin typeface="Montserrat"/>
              <a:ea typeface="Montserrat"/>
              <a:cs typeface="Montserrat"/>
              <a:sym typeface="Montserrat"/>
            </a:endParaRPr>
          </a:p>
          <a:p>
            <a:pPr indent="-342900" lvl="0" marL="457200" rtl="0" algn="l">
              <a:spcBef>
                <a:spcPts val="0"/>
              </a:spcBef>
              <a:spcAft>
                <a:spcPts val="0"/>
              </a:spcAft>
              <a:buSzPts val="1800"/>
              <a:buFont typeface="Montserrat"/>
              <a:buChar char="●"/>
            </a:pPr>
            <a:r>
              <a:rPr lang="en">
                <a:latin typeface="Montserrat"/>
                <a:ea typeface="Montserrat"/>
                <a:cs typeface="Montserrat"/>
                <a:sym typeface="Montserrat"/>
              </a:rPr>
              <a:t>Team Dynamics, Challenges, &amp; Reflection</a:t>
            </a:r>
            <a:endParaRPr>
              <a:latin typeface="Montserrat"/>
              <a:ea typeface="Montserrat"/>
              <a:cs typeface="Montserrat"/>
              <a:sym typeface="Montserrat"/>
            </a:endParaRPr>
          </a:p>
          <a:p>
            <a:pPr indent="-342900" lvl="0" marL="457200" rtl="0" algn="l">
              <a:spcBef>
                <a:spcPts val="0"/>
              </a:spcBef>
              <a:spcAft>
                <a:spcPts val="0"/>
              </a:spcAft>
              <a:buSzPts val="1800"/>
              <a:buFont typeface="Montserrat"/>
              <a:buChar char="●"/>
            </a:pPr>
            <a:r>
              <a:rPr lang="en">
                <a:latin typeface="Montserrat"/>
                <a:ea typeface="Montserrat"/>
                <a:cs typeface="Montserrat"/>
                <a:sym typeface="Montserrat"/>
              </a:rPr>
              <a:t>Questions</a:t>
            </a:r>
            <a:endParaRPr>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79" name="Shape 79"/>
        <p:cNvGrpSpPr/>
        <p:nvPr/>
      </p:nvGrpSpPr>
      <p:grpSpPr>
        <a:xfrm>
          <a:off x="0" y="0"/>
          <a:ext cx="0" cy="0"/>
          <a:chOff x="0" y="0"/>
          <a:chExt cx="0" cy="0"/>
        </a:xfrm>
      </p:grpSpPr>
      <p:sp>
        <p:nvSpPr>
          <p:cNvPr id="80" name="Google Shape;80;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Montserrat"/>
                <a:ea typeface="Montserrat"/>
                <a:cs typeface="Montserrat"/>
                <a:sym typeface="Montserrat"/>
              </a:rPr>
              <a:t>Purpose &amp; User Story</a:t>
            </a:r>
            <a:endParaRPr>
              <a:latin typeface="Montserrat"/>
              <a:ea typeface="Montserrat"/>
              <a:cs typeface="Montserrat"/>
              <a:sym typeface="Montserrat"/>
            </a:endParaRPr>
          </a:p>
        </p:txBody>
      </p:sp>
      <p:sp>
        <p:nvSpPr>
          <p:cNvPr id="81" name="Google Shape;81;p15"/>
          <p:cNvSpPr txBox="1"/>
          <p:nvPr>
            <p:ph idx="1" type="body"/>
          </p:nvPr>
        </p:nvSpPr>
        <p:spPr>
          <a:xfrm>
            <a:off x="471900" y="1794775"/>
            <a:ext cx="8222100" cy="3103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latin typeface="Montserrat"/>
                <a:ea typeface="Montserrat"/>
                <a:cs typeface="Montserrat"/>
                <a:sym typeface="Montserrat"/>
              </a:rPr>
              <a:t>Problem: </a:t>
            </a:r>
            <a:endParaRPr b="1">
              <a:latin typeface="Montserrat"/>
              <a:ea typeface="Montserrat"/>
              <a:cs typeface="Montserrat"/>
              <a:sym typeface="Montserrat"/>
            </a:endParaRPr>
          </a:p>
          <a:p>
            <a:pPr indent="0" lvl="0" marL="0" rtl="0" algn="l">
              <a:spcBef>
                <a:spcPts val="1200"/>
              </a:spcBef>
              <a:spcAft>
                <a:spcPts val="0"/>
              </a:spcAft>
              <a:buNone/>
            </a:pPr>
            <a:r>
              <a:rPr lang="en">
                <a:latin typeface="Montserrat"/>
                <a:ea typeface="Montserrat"/>
                <a:cs typeface="Montserrat"/>
                <a:sym typeface="Montserrat"/>
              </a:rPr>
              <a:t>For years, CSPB students have a hard time finding course reviews, which are scattered and buried in various places (Buff Portal course evals, Discord, Reddit, blogs, messages)</a:t>
            </a:r>
            <a:endParaRPr>
              <a:latin typeface="Montserrat"/>
              <a:ea typeface="Montserrat"/>
              <a:cs typeface="Montserrat"/>
              <a:sym typeface="Montserrat"/>
            </a:endParaRPr>
          </a:p>
          <a:p>
            <a:pPr indent="0" lvl="0" marL="0" rtl="0" algn="l">
              <a:spcBef>
                <a:spcPts val="1200"/>
              </a:spcBef>
              <a:spcAft>
                <a:spcPts val="0"/>
              </a:spcAft>
              <a:buNone/>
            </a:pPr>
            <a:r>
              <a:rPr b="1" lang="en">
                <a:latin typeface="Montserrat"/>
                <a:ea typeface="Montserrat"/>
                <a:cs typeface="Montserrat"/>
                <a:sym typeface="Montserrat"/>
              </a:rPr>
              <a:t>Needs:</a:t>
            </a:r>
            <a:endParaRPr b="1">
              <a:latin typeface="Montserrat"/>
              <a:ea typeface="Montserrat"/>
              <a:cs typeface="Montserrat"/>
              <a:sym typeface="Montserrat"/>
            </a:endParaRPr>
          </a:p>
          <a:p>
            <a:pPr indent="0" lvl="0" marL="0" rtl="0" algn="l">
              <a:spcBef>
                <a:spcPts val="1200"/>
              </a:spcBef>
              <a:spcAft>
                <a:spcPts val="0"/>
              </a:spcAft>
              <a:buNone/>
            </a:pPr>
            <a:r>
              <a:rPr lang="en">
                <a:latin typeface="Montserrat"/>
                <a:ea typeface="Montserrat"/>
                <a:cs typeface="Montserrat"/>
                <a:sym typeface="Montserrat"/>
              </a:rPr>
              <a:t>Find, browse, and write course reviews more easily in one place</a:t>
            </a:r>
            <a:endParaRPr>
              <a:latin typeface="Montserrat"/>
              <a:ea typeface="Montserrat"/>
              <a:cs typeface="Montserrat"/>
              <a:sym typeface="Montserrat"/>
            </a:endParaRPr>
          </a:p>
          <a:p>
            <a:pPr indent="0" lvl="0" marL="0" rtl="0" algn="l">
              <a:spcBef>
                <a:spcPts val="1200"/>
              </a:spcBef>
              <a:spcAft>
                <a:spcPts val="0"/>
              </a:spcAft>
              <a:buNone/>
            </a:pPr>
            <a:r>
              <a:rPr b="1" lang="en">
                <a:latin typeface="Montserrat"/>
                <a:ea typeface="Montserrat"/>
                <a:cs typeface="Montserrat"/>
                <a:sym typeface="Montserrat"/>
              </a:rPr>
              <a:t>Solution:</a:t>
            </a:r>
            <a:endParaRPr b="1">
              <a:latin typeface="Montserrat"/>
              <a:ea typeface="Montserrat"/>
              <a:cs typeface="Montserrat"/>
              <a:sym typeface="Montserrat"/>
            </a:endParaRPr>
          </a:p>
          <a:p>
            <a:pPr indent="0" lvl="0" marL="0" rtl="0" algn="l">
              <a:spcBef>
                <a:spcPts val="1200"/>
              </a:spcBef>
              <a:spcAft>
                <a:spcPts val="1200"/>
              </a:spcAft>
              <a:buNone/>
            </a:pPr>
            <a:r>
              <a:rPr lang="en">
                <a:latin typeface="Montserrat"/>
                <a:ea typeface="Montserrat"/>
                <a:cs typeface="Montserrat"/>
                <a:sym typeface="Montserrat"/>
              </a:rPr>
              <a:t>A website built to help students </a:t>
            </a:r>
            <a:r>
              <a:rPr lang="en">
                <a:latin typeface="Montserrat"/>
                <a:ea typeface="Montserrat"/>
                <a:cs typeface="Montserrat"/>
                <a:sym typeface="Montserrat"/>
              </a:rPr>
              <a:t>review CSPB </a:t>
            </a:r>
            <a:r>
              <a:rPr lang="en">
                <a:latin typeface="Montserrat"/>
                <a:ea typeface="Montserrat"/>
                <a:cs typeface="Montserrat"/>
                <a:sym typeface="Montserrat"/>
              </a:rPr>
              <a:t>courses</a:t>
            </a:r>
            <a:endParaRPr>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85" name="Shape 85"/>
        <p:cNvGrpSpPr/>
        <p:nvPr/>
      </p:nvGrpSpPr>
      <p:grpSpPr>
        <a:xfrm>
          <a:off x="0" y="0"/>
          <a:ext cx="0" cy="0"/>
          <a:chOff x="0" y="0"/>
          <a:chExt cx="0" cy="0"/>
        </a:xfrm>
      </p:grpSpPr>
      <p:sp>
        <p:nvSpPr>
          <p:cNvPr id="86" name="Google Shape;86;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Montserrat"/>
                <a:ea typeface="Montserrat"/>
                <a:cs typeface="Montserrat"/>
                <a:sym typeface="Montserrat"/>
              </a:rPr>
              <a:t>Our Project &amp; MVP</a:t>
            </a:r>
            <a:endParaRPr>
              <a:latin typeface="Montserrat"/>
              <a:ea typeface="Montserrat"/>
              <a:cs typeface="Montserrat"/>
              <a:sym typeface="Montserrat"/>
            </a:endParaRPr>
          </a:p>
        </p:txBody>
      </p:sp>
      <p:sp>
        <p:nvSpPr>
          <p:cNvPr id="87" name="Google Shape;87;p16"/>
          <p:cNvSpPr txBox="1"/>
          <p:nvPr>
            <p:ph idx="1" type="body"/>
          </p:nvPr>
        </p:nvSpPr>
        <p:spPr>
          <a:xfrm>
            <a:off x="412200" y="1867700"/>
            <a:ext cx="8319600" cy="3185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a:latin typeface="Montserrat"/>
                <a:ea typeface="Montserrat"/>
                <a:cs typeface="Montserrat"/>
                <a:sym typeface="Montserrat"/>
              </a:rPr>
              <a:t>CSPB Course Reviews</a:t>
            </a:r>
            <a:endParaRPr b="1">
              <a:latin typeface="Montserrat"/>
              <a:ea typeface="Montserrat"/>
              <a:cs typeface="Montserrat"/>
              <a:sym typeface="Montserrat"/>
            </a:endParaRPr>
          </a:p>
          <a:p>
            <a:pPr indent="0" lvl="0" marL="0" rtl="0" algn="l">
              <a:spcBef>
                <a:spcPts val="1200"/>
              </a:spcBef>
              <a:spcAft>
                <a:spcPts val="0"/>
              </a:spcAft>
              <a:buNone/>
            </a:pPr>
            <a:r>
              <a:rPr lang="en">
                <a:latin typeface="Montserrat"/>
                <a:ea typeface="Montserrat"/>
                <a:cs typeface="Montserrat"/>
                <a:sym typeface="Montserrat"/>
              </a:rPr>
              <a:t>A website that enables CSPB students </a:t>
            </a:r>
            <a:endParaRPr>
              <a:latin typeface="Montserrat"/>
              <a:ea typeface="Montserrat"/>
              <a:cs typeface="Montserrat"/>
              <a:sym typeface="Montserrat"/>
            </a:endParaRPr>
          </a:p>
          <a:p>
            <a:pPr indent="0" lvl="0" marL="0" rtl="0" algn="l">
              <a:spcBef>
                <a:spcPts val="1200"/>
              </a:spcBef>
              <a:spcAft>
                <a:spcPts val="0"/>
              </a:spcAft>
              <a:buNone/>
            </a:pPr>
            <a:r>
              <a:rPr lang="en">
                <a:latin typeface="Montserrat"/>
                <a:ea typeface="Montserrat"/>
                <a:cs typeface="Montserrat"/>
                <a:sym typeface="Montserrat"/>
              </a:rPr>
              <a:t>to centrally browse, write, and manage</a:t>
            </a:r>
            <a:endParaRPr>
              <a:latin typeface="Montserrat"/>
              <a:ea typeface="Montserrat"/>
              <a:cs typeface="Montserrat"/>
              <a:sym typeface="Montserrat"/>
            </a:endParaRPr>
          </a:p>
          <a:p>
            <a:pPr indent="0" lvl="0" marL="0" rtl="0" algn="l">
              <a:spcBef>
                <a:spcPts val="1200"/>
              </a:spcBef>
              <a:spcAft>
                <a:spcPts val="0"/>
              </a:spcAft>
              <a:buNone/>
            </a:pPr>
            <a:r>
              <a:rPr lang="en">
                <a:latin typeface="Montserrat"/>
                <a:ea typeface="Montserrat"/>
                <a:cs typeface="Montserrat"/>
                <a:sym typeface="Montserrat"/>
              </a:rPr>
              <a:t>course reviews</a:t>
            </a:r>
            <a:endParaRPr>
              <a:latin typeface="Montserrat"/>
              <a:ea typeface="Montserrat"/>
              <a:cs typeface="Montserrat"/>
              <a:sym typeface="Montserrat"/>
            </a:endParaRPr>
          </a:p>
          <a:p>
            <a:pPr indent="0" lvl="0" marL="0" rtl="0" algn="l">
              <a:spcBef>
                <a:spcPts val="1200"/>
              </a:spcBef>
              <a:spcAft>
                <a:spcPts val="0"/>
              </a:spcAft>
              <a:buNone/>
            </a:pPr>
            <a:r>
              <a:rPr b="1" lang="en">
                <a:latin typeface="Montserrat"/>
                <a:ea typeface="Montserrat"/>
                <a:cs typeface="Montserrat"/>
                <a:sym typeface="Montserrat"/>
              </a:rPr>
              <a:t>MVP</a:t>
            </a:r>
            <a:endParaRPr b="1">
              <a:latin typeface="Montserrat"/>
              <a:ea typeface="Montserrat"/>
              <a:cs typeface="Montserrat"/>
              <a:sym typeface="Montserrat"/>
            </a:endParaRPr>
          </a:p>
          <a:p>
            <a:pPr indent="0" lvl="0" marL="0" rtl="0" algn="l">
              <a:spcBef>
                <a:spcPts val="1200"/>
              </a:spcBef>
              <a:spcAft>
                <a:spcPts val="0"/>
              </a:spcAft>
              <a:buNone/>
            </a:pPr>
            <a:r>
              <a:rPr lang="en">
                <a:latin typeface="Montserrat"/>
                <a:ea typeface="Montserrat"/>
                <a:cs typeface="Montserrat"/>
                <a:sym typeface="Montserrat"/>
              </a:rPr>
              <a:t>Our MVP delivers essential features, </a:t>
            </a:r>
            <a:endParaRPr>
              <a:latin typeface="Montserrat"/>
              <a:ea typeface="Montserrat"/>
              <a:cs typeface="Montserrat"/>
              <a:sym typeface="Montserrat"/>
            </a:endParaRPr>
          </a:p>
          <a:p>
            <a:pPr indent="0" lvl="0" marL="0" rtl="0" algn="l">
              <a:spcBef>
                <a:spcPts val="1200"/>
              </a:spcBef>
              <a:spcAft>
                <a:spcPts val="1200"/>
              </a:spcAft>
              <a:buNone/>
            </a:pPr>
            <a:r>
              <a:rPr lang="en">
                <a:latin typeface="Montserrat"/>
                <a:ea typeface="Montserrat"/>
                <a:cs typeface="Montserrat"/>
                <a:sym typeface="Montserrat"/>
              </a:rPr>
              <a:t>all tested and functional</a:t>
            </a:r>
            <a:endParaRPr>
              <a:latin typeface="Montserrat"/>
              <a:ea typeface="Montserrat"/>
              <a:cs typeface="Montserrat"/>
              <a:sym typeface="Montserrat"/>
            </a:endParaRPr>
          </a:p>
        </p:txBody>
      </p:sp>
      <p:pic>
        <p:nvPicPr>
          <p:cNvPr id="88" name="Google Shape;88;p16" title="Minimalist Logo of CSPB Course Reviews.png"/>
          <p:cNvPicPr preferRelativeResize="0"/>
          <p:nvPr/>
        </p:nvPicPr>
        <p:blipFill rotWithShape="1">
          <a:blip r:embed="rId3">
            <a:alphaModFix/>
          </a:blip>
          <a:srcRect b="22857" l="0" r="0" t="22147"/>
          <a:stretch/>
        </p:blipFill>
        <p:spPr>
          <a:xfrm>
            <a:off x="5130200" y="2198969"/>
            <a:ext cx="3719750" cy="2045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92" name="Shape 92"/>
        <p:cNvGrpSpPr/>
        <p:nvPr/>
      </p:nvGrpSpPr>
      <p:grpSpPr>
        <a:xfrm>
          <a:off x="0" y="0"/>
          <a:ext cx="0" cy="0"/>
          <a:chOff x="0" y="0"/>
          <a:chExt cx="0" cy="0"/>
        </a:xfrm>
      </p:grpSpPr>
      <p:sp>
        <p:nvSpPr>
          <p:cNvPr id="93" name="Google Shape;93;p1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600">
                <a:latin typeface="Montserrat"/>
                <a:ea typeface="Montserrat"/>
                <a:cs typeface="Montserrat"/>
                <a:sym typeface="Montserrat"/>
              </a:rPr>
              <a:t>Core Features</a:t>
            </a:r>
            <a:endParaRPr sz="2600">
              <a:latin typeface="Montserrat"/>
              <a:ea typeface="Montserrat"/>
              <a:cs typeface="Montserrat"/>
              <a:sym typeface="Montserrat"/>
            </a:endParaRPr>
          </a:p>
        </p:txBody>
      </p:sp>
      <p:pic>
        <p:nvPicPr>
          <p:cNvPr id="94" name="Google Shape;94;p17" title="Screenshot 2026-08-03 at 2.20.49 PM.png"/>
          <p:cNvPicPr preferRelativeResize="0"/>
          <p:nvPr/>
        </p:nvPicPr>
        <p:blipFill>
          <a:blip r:embed="rId3">
            <a:alphaModFix/>
          </a:blip>
          <a:stretch>
            <a:fillRect/>
          </a:stretch>
        </p:blipFill>
        <p:spPr>
          <a:xfrm>
            <a:off x="915313" y="714500"/>
            <a:ext cx="7313373" cy="44290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98" name="Shape 98"/>
        <p:cNvGrpSpPr/>
        <p:nvPr/>
      </p:nvGrpSpPr>
      <p:grpSpPr>
        <a:xfrm>
          <a:off x="0" y="0"/>
          <a:ext cx="0" cy="0"/>
          <a:chOff x="0" y="0"/>
          <a:chExt cx="0" cy="0"/>
        </a:xfrm>
      </p:grpSpPr>
      <p:pic>
        <p:nvPicPr>
          <p:cNvPr id="99" name="Google Shape;99;p18"/>
          <p:cNvPicPr preferRelativeResize="0"/>
          <p:nvPr/>
        </p:nvPicPr>
        <p:blipFill>
          <a:blip r:embed="rId3">
            <a:alphaModFix/>
          </a:blip>
          <a:stretch>
            <a:fillRect/>
          </a:stretch>
        </p:blipFill>
        <p:spPr>
          <a:xfrm>
            <a:off x="429599" y="0"/>
            <a:ext cx="8306725" cy="51434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103" name="Shape 103"/>
        <p:cNvGrpSpPr/>
        <p:nvPr/>
      </p:nvGrpSpPr>
      <p:grpSpPr>
        <a:xfrm>
          <a:off x="0" y="0"/>
          <a:ext cx="0" cy="0"/>
          <a:chOff x="0" y="0"/>
          <a:chExt cx="0" cy="0"/>
        </a:xfrm>
      </p:grpSpPr>
      <p:sp>
        <p:nvSpPr>
          <p:cNvPr id="104" name="Google Shape;104;p19"/>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latin typeface="Montserrat"/>
                <a:ea typeface="Montserrat"/>
                <a:cs typeface="Montserrat"/>
                <a:sym typeface="Montserrat"/>
              </a:rPr>
              <a:t>Our Tools</a:t>
            </a:r>
            <a:endParaRPr sz="2600">
              <a:latin typeface="Montserrat"/>
              <a:ea typeface="Montserrat"/>
              <a:cs typeface="Montserrat"/>
              <a:sym typeface="Montserrat"/>
            </a:endParaRPr>
          </a:p>
        </p:txBody>
      </p:sp>
      <p:graphicFrame>
        <p:nvGraphicFramePr>
          <p:cNvPr id="105" name="Google Shape;105;p19"/>
          <p:cNvGraphicFramePr/>
          <p:nvPr/>
        </p:nvGraphicFramePr>
        <p:xfrm>
          <a:off x="390425" y="948275"/>
          <a:ext cx="3000000" cy="3000000"/>
        </p:xfrm>
        <a:graphic>
          <a:graphicData uri="http://schemas.openxmlformats.org/drawingml/2006/table">
            <a:tbl>
              <a:tblPr>
                <a:noFill/>
                <a:tableStyleId>{F162B80D-A7AA-4933-82A0-7F32F041E560}</a:tableStyleId>
              </a:tblPr>
              <a:tblGrid>
                <a:gridCol w="4152175"/>
                <a:gridCol w="4210975"/>
              </a:tblGrid>
              <a:tr h="551925">
                <a:tc>
                  <a:txBody>
                    <a:bodyPr/>
                    <a:lstStyle/>
                    <a:p>
                      <a:pPr indent="0" lvl="0" marL="0" rtl="0" algn="ctr">
                        <a:spcBef>
                          <a:spcPts val="0"/>
                        </a:spcBef>
                        <a:spcAft>
                          <a:spcPts val="0"/>
                        </a:spcAft>
                        <a:buNone/>
                      </a:pPr>
                      <a:r>
                        <a:rPr b="1" lang="en" sz="1600">
                          <a:solidFill>
                            <a:schemeClr val="lt1"/>
                          </a:solidFill>
                          <a:latin typeface="Montserrat"/>
                          <a:ea typeface="Montserrat"/>
                          <a:cs typeface="Montserrat"/>
                          <a:sym typeface="Montserrat"/>
                        </a:rPr>
                        <a:t>Tool &amp; Use</a:t>
                      </a:r>
                      <a:endParaRPr b="1" sz="1600">
                        <a:solidFill>
                          <a:schemeClr val="lt1"/>
                        </a:solidFill>
                        <a:latin typeface="Montserrat"/>
                        <a:ea typeface="Montserrat"/>
                        <a:cs typeface="Montserrat"/>
                        <a:sym typeface="Montserrat"/>
                      </a:endParaRPr>
                    </a:p>
                  </a:txBody>
                  <a:tcPr marT="91425" marB="91425" marR="91425" marL="91425" anchor="ctr">
                    <a:lnL cap="flat" cmpd="sng" w="9525">
                      <a:solidFill>
                        <a:srgbClr val="0344C2"/>
                      </a:solidFill>
                      <a:prstDash val="solid"/>
                      <a:round/>
                      <a:headEnd len="sm" w="sm" type="none"/>
                      <a:tailEnd len="sm" w="sm" type="none"/>
                    </a:lnL>
                    <a:lnR cap="flat" cmpd="sng" w="9525">
                      <a:solidFill>
                        <a:srgbClr val="0344C2"/>
                      </a:solidFill>
                      <a:prstDash val="solid"/>
                      <a:round/>
                      <a:headEnd len="sm" w="sm" type="none"/>
                      <a:tailEnd len="sm" w="sm" type="none"/>
                    </a:lnR>
                    <a:lnT cap="flat" cmpd="sng" w="9525">
                      <a:solidFill>
                        <a:srgbClr val="0344C2"/>
                      </a:solidFill>
                      <a:prstDash val="solid"/>
                      <a:round/>
                      <a:headEnd len="sm" w="sm" type="none"/>
                      <a:tailEnd len="sm" w="sm" type="none"/>
                    </a:lnT>
                    <a:lnB cap="flat" cmpd="sng" w="9525">
                      <a:solidFill>
                        <a:srgbClr val="0344C2"/>
                      </a:solidFill>
                      <a:prstDash val="solid"/>
                      <a:round/>
                      <a:headEnd len="sm" w="sm" type="none"/>
                      <a:tailEnd len="sm" w="sm" type="none"/>
                    </a:lnB>
                    <a:solidFill>
                      <a:srgbClr val="0052F2"/>
                    </a:solidFill>
                  </a:tcPr>
                </a:tc>
                <a:tc>
                  <a:txBody>
                    <a:bodyPr/>
                    <a:lstStyle/>
                    <a:p>
                      <a:pPr indent="0" lvl="0" marL="0" rtl="0" algn="ctr">
                        <a:spcBef>
                          <a:spcPts val="0"/>
                        </a:spcBef>
                        <a:spcAft>
                          <a:spcPts val="0"/>
                        </a:spcAft>
                        <a:buNone/>
                      </a:pPr>
                      <a:r>
                        <a:rPr b="1" lang="en" sz="1600">
                          <a:solidFill>
                            <a:schemeClr val="lt1"/>
                          </a:solidFill>
                          <a:latin typeface="Montserrat"/>
                          <a:ea typeface="Montserrat"/>
                          <a:cs typeface="Montserrat"/>
                          <a:sym typeface="Montserrat"/>
                        </a:rPr>
                        <a:t>Evaluation</a:t>
                      </a:r>
                      <a:endParaRPr b="1" sz="1600">
                        <a:solidFill>
                          <a:schemeClr val="lt1"/>
                        </a:solidFill>
                        <a:latin typeface="Montserrat"/>
                        <a:ea typeface="Montserrat"/>
                        <a:cs typeface="Montserrat"/>
                        <a:sym typeface="Montserrat"/>
                      </a:endParaRPr>
                    </a:p>
                  </a:txBody>
                  <a:tcPr marT="91425" marB="91425" marR="91425" marL="91425" anchor="ctr">
                    <a:lnL cap="flat" cmpd="sng" w="9525">
                      <a:solidFill>
                        <a:srgbClr val="0344C2"/>
                      </a:solidFill>
                      <a:prstDash val="solid"/>
                      <a:round/>
                      <a:headEnd len="sm" w="sm" type="none"/>
                      <a:tailEnd len="sm" w="sm" type="none"/>
                    </a:lnL>
                    <a:lnR cap="flat" cmpd="sng" w="9525">
                      <a:solidFill>
                        <a:srgbClr val="0344C2"/>
                      </a:solidFill>
                      <a:prstDash val="solid"/>
                      <a:round/>
                      <a:headEnd len="sm" w="sm" type="none"/>
                      <a:tailEnd len="sm" w="sm" type="none"/>
                    </a:lnR>
                    <a:lnT cap="flat" cmpd="sng" w="9525">
                      <a:solidFill>
                        <a:srgbClr val="0344C2"/>
                      </a:solidFill>
                      <a:prstDash val="solid"/>
                      <a:round/>
                      <a:headEnd len="sm" w="sm" type="none"/>
                      <a:tailEnd len="sm" w="sm" type="none"/>
                    </a:lnT>
                    <a:lnB cap="flat" cmpd="sng" w="9525">
                      <a:solidFill>
                        <a:srgbClr val="0344C2"/>
                      </a:solidFill>
                      <a:prstDash val="solid"/>
                      <a:round/>
                      <a:headEnd len="sm" w="sm" type="none"/>
                      <a:tailEnd len="sm" w="sm" type="none"/>
                    </a:lnB>
                    <a:solidFill>
                      <a:srgbClr val="0052F2"/>
                    </a:solidFill>
                  </a:tcPr>
                </a:tc>
              </a:tr>
              <a:tr h="891125">
                <a:tc>
                  <a:txBody>
                    <a:bodyPr/>
                    <a:lstStyle/>
                    <a:p>
                      <a:pPr indent="0" lvl="0" marL="0" rtl="0" algn="l">
                        <a:lnSpc>
                          <a:spcPct val="115000"/>
                        </a:lnSpc>
                        <a:spcBef>
                          <a:spcPts val="0"/>
                        </a:spcBef>
                        <a:spcAft>
                          <a:spcPts val="1200"/>
                        </a:spcAft>
                        <a:buNone/>
                      </a:pPr>
                      <a:r>
                        <a:rPr b="1" lang="en" sz="1300">
                          <a:solidFill>
                            <a:schemeClr val="lt2"/>
                          </a:solidFill>
                          <a:latin typeface="Montserrat"/>
                          <a:ea typeface="Montserrat"/>
                          <a:cs typeface="Montserrat"/>
                          <a:sym typeface="Montserrat"/>
                        </a:rPr>
                        <a:t>Google Docs: </a:t>
                      </a:r>
                      <a:r>
                        <a:rPr lang="en" sz="1300">
                          <a:solidFill>
                            <a:schemeClr val="lt2"/>
                          </a:solidFill>
                          <a:latin typeface="Montserrat"/>
                          <a:ea typeface="Montserrat"/>
                          <a:cs typeface="Montserrat"/>
                          <a:sym typeface="Montserrat"/>
                        </a:rPr>
                        <a:t>Brainstorm, manage tasks &amp; milestones, organize &amp; share data</a:t>
                      </a:r>
                      <a:endParaRPr sz="1300">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0344C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b="1" lang="en" sz="1300">
                          <a:solidFill>
                            <a:schemeClr val="lt2"/>
                          </a:solidFill>
                          <a:latin typeface="Montserrat"/>
                          <a:ea typeface="Montserrat"/>
                          <a:cs typeface="Montserrat"/>
                          <a:sym typeface="Montserrat"/>
                        </a:rPr>
                        <a:t>Excellent</a:t>
                      </a:r>
                      <a:r>
                        <a:rPr lang="en" sz="1300">
                          <a:solidFill>
                            <a:schemeClr val="lt2"/>
                          </a:solidFill>
                          <a:latin typeface="Montserrat"/>
                          <a:ea typeface="Montserrat"/>
                          <a:cs typeface="Montserrat"/>
                          <a:sym typeface="Montserrat"/>
                        </a:rPr>
                        <a:t>: Ended up being our main planning &amp; design document. Commenting feature </a:t>
                      </a:r>
                      <a:r>
                        <a:rPr lang="en" sz="1300">
                          <a:solidFill>
                            <a:schemeClr val="lt2"/>
                          </a:solidFill>
                          <a:latin typeface="Montserrat"/>
                          <a:ea typeface="Montserrat"/>
                          <a:cs typeface="Montserrat"/>
                          <a:sym typeface="Montserrat"/>
                        </a:rPr>
                        <a:t>useful</a:t>
                      </a:r>
                      <a:r>
                        <a:rPr lang="en" sz="1300">
                          <a:solidFill>
                            <a:schemeClr val="lt2"/>
                          </a:solidFill>
                          <a:latin typeface="Montserrat"/>
                          <a:ea typeface="Montserrat"/>
                          <a:cs typeface="Montserrat"/>
                          <a:sym typeface="Montserrat"/>
                        </a:rPr>
                        <a:t> for asynchronous work</a:t>
                      </a:r>
                      <a:endParaRPr sz="1300">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rgbClr val="0344C2"/>
                      </a:solidFill>
                      <a:prstDash val="solid"/>
                      <a:round/>
                      <a:headEnd len="sm" w="sm" type="none"/>
                      <a:tailEnd len="sm" w="sm" type="none"/>
                    </a:lnT>
                    <a:lnB cap="flat" cmpd="sng" w="9525">
                      <a:solidFill>
                        <a:schemeClr val="dk2"/>
                      </a:solidFill>
                      <a:prstDash val="solid"/>
                      <a:round/>
                      <a:headEnd len="sm" w="sm" type="none"/>
                      <a:tailEnd len="sm" w="sm" type="none"/>
                    </a:lnB>
                  </a:tcPr>
                </a:tc>
              </a:tr>
              <a:tr h="650775">
                <a:tc>
                  <a:txBody>
                    <a:bodyPr/>
                    <a:lstStyle/>
                    <a:p>
                      <a:pPr indent="0" lvl="0" marL="0" rtl="0" algn="l">
                        <a:lnSpc>
                          <a:spcPct val="115000"/>
                        </a:lnSpc>
                        <a:spcBef>
                          <a:spcPts val="0"/>
                        </a:spcBef>
                        <a:spcAft>
                          <a:spcPts val="1200"/>
                        </a:spcAft>
                        <a:buNone/>
                      </a:pPr>
                      <a:r>
                        <a:rPr b="1" lang="en" sz="1300">
                          <a:solidFill>
                            <a:schemeClr val="lt2"/>
                          </a:solidFill>
                          <a:latin typeface="Montserrat"/>
                          <a:ea typeface="Montserrat"/>
                          <a:cs typeface="Montserrat"/>
                          <a:sym typeface="Montserrat"/>
                        </a:rPr>
                        <a:t>Discord:</a:t>
                      </a:r>
                      <a:r>
                        <a:rPr lang="en" sz="1300">
                          <a:solidFill>
                            <a:schemeClr val="lt2"/>
                          </a:solidFill>
                          <a:latin typeface="Montserrat"/>
                          <a:ea typeface="Montserrat"/>
                          <a:cs typeface="Montserrat"/>
                          <a:sym typeface="Montserrat"/>
                        </a:rPr>
                        <a:t> Discuss designs, make decisions, and coordinate tasks</a:t>
                      </a:r>
                      <a:endParaRPr sz="1300">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b="1" lang="en" sz="1300">
                          <a:solidFill>
                            <a:schemeClr val="lt2"/>
                          </a:solidFill>
                          <a:latin typeface="Montserrat"/>
                          <a:ea typeface="Montserrat"/>
                          <a:cs typeface="Montserrat"/>
                          <a:sym typeface="Montserrat"/>
                        </a:rPr>
                        <a:t>Excellent</a:t>
                      </a:r>
                      <a:r>
                        <a:rPr lang="en" sz="1300">
                          <a:solidFill>
                            <a:schemeClr val="lt2"/>
                          </a:solidFill>
                          <a:latin typeface="Montserrat"/>
                          <a:ea typeface="Montserrat"/>
                          <a:cs typeface="Montserrat"/>
                          <a:sym typeface="Montserrat"/>
                        </a:rPr>
                        <a:t>: </a:t>
                      </a:r>
                      <a:r>
                        <a:rPr lang="en" sz="1300">
                          <a:solidFill>
                            <a:schemeClr val="lt2"/>
                          </a:solidFill>
                          <a:latin typeface="Montserrat"/>
                          <a:ea typeface="Montserrat"/>
                          <a:cs typeface="Montserrat"/>
                          <a:sym typeface="Montserrat"/>
                        </a:rPr>
                        <a:t>Most used for daily communication and informal check-in meetings</a:t>
                      </a:r>
                      <a:endParaRPr sz="1300">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648400">
                <a:tc>
                  <a:txBody>
                    <a:bodyPr/>
                    <a:lstStyle/>
                    <a:p>
                      <a:pPr indent="0" lvl="0" marL="0" rtl="0" algn="l">
                        <a:lnSpc>
                          <a:spcPct val="115000"/>
                        </a:lnSpc>
                        <a:spcBef>
                          <a:spcPts val="0"/>
                        </a:spcBef>
                        <a:spcAft>
                          <a:spcPts val="1200"/>
                        </a:spcAft>
                        <a:buNone/>
                      </a:pPr>
                      <a:r>
                        <a:rPr b="1" lang="en" sz="1300">
                          <a:solidFill>
                            <a:schemeClr val="lt2"/>
                          </a:solidFill>
                          <a:latin typeface="Montserrat"/>
                          <a:ea typeface="Montserrat"/>
                          <a:cs typeface="Montserrat"/>
                          <a:sym typeface="Montserrat"/>
                        </a:rPr>
                        <a:t>Zoom: </a:t>
                      </a:r>
                      <a:r>
                        <a:rPr lang="en" sz="1300">
                          <a:solidFill>
                            <a:schemeClr val="lt2"/>
                          </a:solidFill>
                          <a:latin typeface="Montserrat"/>
                          <a:ea typeface="Montserrat"/>
                          <a:cs typeface="Montserrat"/>
                          <a:sym typeface="Montserrat"/>
                        </a:rPr>
                        <a:t>Hold regular team meetings </a:t>
                      </a:r>
                      <a:endParaRPr sz="1300">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b="1" lang="en" sz="1300">
                          <a:solidFill>
                            <a:schemeClr val="lt2"/>
                          </a:solidFill>
                          <a:latin typeface="Montserrat"/>
                          <a:ea typeface="Montserrat"/>
                          <a:cs typeface="Montserrat"/>
                          <a:sym typeface="Montserrat"/>
                        </a:rPr>
                        <a:t>Good</a:t>
                      </a:r>
                      <a:r>
                        <a:rPr lang="en" sz="1300">
                          <a:solidFill>
                            <a:schemeClr val="lt2"/>
                          </a:solidFill>
                          <a:latin typeface="Montserrat"/>
                          <a:ea typeface="Montserrat"/>
                          <a:cs typeface="Montserrat"/>
                          <a:sym typeface="Montserrat"/>
                        </a:rPr>
                        <a:t>: U</a:t>
                      </a:r>
                      <a:r>
                        <a:rPr lang="en" sz="1300">
                          <a:solidFill>
                            <a:schemeClr val="lt2"/>
                          </a:solidFill>
                          <a:latin typeface="Montserrat"/>
                          <a:ea typeface="Montserrat"/>
                          <a:cs typeface="Montserrat"/>
                          <a:sym typeface="Montserrat"/>
                        </a:rPr>
                        <a:t>sed for formal meetings and milestone recordings</a:t>
                      </a:r>
                      <a:endParaRPr sz="1300">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482200">
                <a:tc>
                  <a:txBody>
                    <a:bodyPr/>
                    <a:lstStyle/>
                    <a:p>
                      <a:pPr indent="0" lvl="0" marL="0" rtl="0" algn="l">
                        <a:lnSpc>
                          <a:spcPct val="115000"/>
                        </a:lnSpc>
                        <a:spcBef>
                          <a:spcPts val="0"/>
                        </a:spcBef>
                        <a:spcAft>
                          <a:spcPts val="1200"/>
                        </a:spcAft>
                        <a:buNone/>
                      </a:pPr>
                      <a:r>
                        <a:rPr b="1" lang="en" sz="1300">
                          <a:solidFill>
                            <a:schemeClr val="lt2"/>
                          </a:solidFill>
                          <a:latin typeface="Montserrat"/>
                          <a:ea typeface="Montserrat"/>
                          <a:cs typeface="Montserrat"/>
                          <a:sym typeface="Montserrat"/>
                        </a:rPr>
                        <a:t>GitHub: </a:t>
                      </a:r>
                      <a:r>
                        <a:rPr lang="en" sz="1300">
                          <a:solidFill>
                            <a:schemeClr val="lt2"/>
                          </a:solidFill>
                          <a:latin typeface="Montserrat"/>
                          <a:ea typeface="Montserrat"/>
                          <a:cs typeface="Montserrat"/>
                          <a:sym typeface="Montserrat"/>
                        </a:rPr>
                        <a:t>Manage code and send pull requests </a:t>
                      </a:r>
                      <a:endParaRPr sz="1300">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b="1" lang="en" sz="1300">
                          <a:solidFill>
                            <a:schemeClr val="lt2"/>
                          </a:solidFill>
                          <a:latin typeface="Montserrat"/>
                          <a:ea typeface="Montserrat"/>
                          <a:cs typeface="Montserrat"/>
                          <a:sym typeface="Montserrat"/>
                        </a:rPr>
                        <a:t>Excellent</a:t>
                      </a:r>
                      <a:r>
                        <a:rPr lang="en" sz="1300">
                          <a:solidFill>
                            <a:schemeClr val="lt2"/>
                          </a:solidFill>
                          <a:latin typeface="Montserrat"/>
                          <a:ea typeface="Montserrat"/>
                          <a:cs typeface="Montserrat"/>
                          <a:sym typeface="Montserrat"/>
                        </a:rPr>
                        <a:t>: I</a:t>
                      </a:r>
                      <a:r>
                        <a:rPr lang="en" sz="1300">
                          <a:solidFill>
                            <a:schemeClr val="lt2"/>
                          </a:solidFill>
                          <a:latin typeface="Montserrat"/>
                          <a:ea typeface="Montserrat"/>
                          <a:cs typeface="Montserrat"/>
                          <a:sym typeface="Montserrat"/>
                        </a:rPr>
                        <a:t>nvaluable for version control</a:t>
                      </a:r>
                      <a:endParaRPr sz="1300">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648400">
                <a:tc>
                  <a:txBody>
                    <a:bodyPr/>
                    <a:lstStyle/>
                    <a:p>
                      <a:pPr indent="0" lvl="0" marL="0" rtl="0" algn="l">
                        <a:lnSpc>
                          <a:spcPct val="115000"/>
                        </a:lnSpc>
                        <a:spcBef>
                          <a:spcPts val="0"/>
                        </a:spcBef>
                        <a:spcAft>
                          <a:spcPts val="1200"/>
                        </a:spcAft>
                        <a:buNone/>
                      </a:pPr>
                      <a:r>
                        <a:rPr b="1" lang="en" sz="1300">
                          <a:solidFill>
                            <a:schemeClr val="lt2"/>
                          </a:solidFill>
                          <a:latin typeface="Montserrat"/>
                          <a:ea typeface="Montserrat"/>
                          <a:cs typeface="Montserrat"/>
                          <a:sym typeface="Montserrat"/>
                        </a:rPr>
                        <a:t>Trello: </a:t>
                      </a:r>
                      <a:r>
                        <a:rPr lang="en" sz="1300">
                          <a:solidFill>
                            <a:schemeClr val="lt2"/>
                          </a:solidFill>
                          <a:latin typeface="Montserrat"/>
                          <a:ea typeface="Montserrat"/>
                          <a:cs typeface="Montserrat"/>
                          <a:sym typeface="Montserrat"/>
                        </a:rPr>
                        <a:t>Manage tasks and have task visuals</a:t>
                      </a:r>
                      <a:endParaRPr sz="1300">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l">
                        <a:lnSpc>
                          <a:spcPct val="115000"/>
                        </a:lnSpc>
                        <a:spcBef>
                          <a:spcPts val="0"/>
                        </a:spcBef>
                        <a:spcAft>
                          <a:spcPts val="1200"/>
                        </a:spcAft>
                        <a:buNone/>
                      </a:pPr>
                      <a:r>
                        <a:rPr b="1" lang="en" sz="1300">
                          <a:solidFill>
                            <a:schemeClr val="lt2"/>
                          </a:solidFill>
                          <a:latin typeface="Montserrat"/>
                          <a:ea typeface="Montserrat"/>
                          <a:cs typeface="Montserrat"/>
                          <a:sym typeface="Montserrat"/>
                        </a:rPr>
                        <a:t>OK</a:t>
                      </a:r>
                      <a:r>
                        <a:rPr lang="en" sz="1300">
                          <a:solidFill>
                            <a:schemeClr val="lt2"/>
                          </a:solidFill>
                          <a:latin typeface="Montserrat"/>
                          <a:ea typeface="Montserrat"/>
                          <a:cs typeface="Montserrat"/>
                          <a:sym typeface="Montserrat"/>
                        </a:rPr>
                        <a:t>: </a:t>
                      </a:r>
                      <a:r>
                        <a:rPr lang="en" sz="1300">
                          <a:solidFill>
                            <a:schemeClr val="lt2"/>
                          </a:solidFill>
                          <a:latin typeface="Montserrat"/>
                          <a:ea typeface="Montserrat"/>
                          <a:cs typeface="Montserrat"/>
                          <a:sym typeface="Montserrat"/>
                        </a:rPr>
                        <a:t>After using Google Docs, was redundant and mostly went unused</a:t>
                      </a:r>
                      <a:endParaRPr sz="1300">
                        <a:latin typeface="Montserrat"/>
                        <a:ea typeface="Montserrat"/>
                        <a:cs typeface="Montserrat"/>
                        <a:sym typeface="Montserrat"/>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109" name="Shape 109"/>
        <p:cNvGrpSpPr/>
        <p:nvPr/>
      </p:nvGrpSpPr>
      <p:grpSpPr>
        <a:xfrm>
          <a:off x="0" y="0"/>
          <a:ext cx="0" cy="0"/>
          <a:chOff x="0" y="0"/>
          <a:chExt cx="0" cy="0"/>
        </a:xfrm>
      </p:grpSpPr>
      <p:sp>
        <p:nvSpPr>
          <p:cNvPr id="110" name="Google Shape;110;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Montserrat"/>
                <a:ea typeface="Montserrat"/>
                <a:cs typeface="Montserrat"/>
                <a:sym typeface="Montserrat"/>
              </a:rPr>
              <a:t>Our Process</a:t>
            </a:r>
            <a:endParaRPr>
              <a:latin typeface="Montserrat"/>
              <a:ea typeface="Montserrat"/>
              <a:cs typeface="Montserrat"/>
              <a:sym typeface="Montserrat"/>
            </a:endParaRPr>
          </a:p>
        </p:txBody>
      </p:sp>
      <p:sp>
        <p:nvSpPr>
          <p:cNvPr id="111" name="Google Shape;111;p20"/>
          <p:cNvSpPr txBox="1"/>
          <p:nvPr>
            <p:ph idx="1" type="body"/>
          </p:nvPr>
        </p:nvSpPr>
        <p:spPr>
          <a:xfrm>
            <a:off x="471900" y="1919075"/>
            <a:ext cx="8222100" cy="2987700"/>
          </a:xfrm>
          <a:prstGeom prst="rect">
            <a:avLst/>
          </a:prstGeom>
        </p:spPr>
        <p:txBody>
          <a:bodyPr anchorCtr="0" anchor="t" bIns="91425" lIns="91425" spcFirstLastPara="1" rIns="91425" wrap="square" tIns="91425">
            <a:normAutofit lnSpcReduction="20000"/>
          </a:bodyPr>
          <a:lstStyle/>
          <a:p>
            <a:pPr indent="-355600" lvl="0" marL="457200" rtl="0" algn="l">
              <a:spcBef>
                <a:spcPts val="0"/>
              </a:spcBef>
              <a:spcAft>
                <a:spcPts val="0"/>
              </a:spcAft>
              <a:buSzPts val="2000"/>
              <a:buFont typeface="Montserrat"/>
              <a:buAutoNum type="arabicPeriod"/>
            </a:pPr>
            <a:r>
              <a:rPr lang="en" sz="2000">
                <a:latin typeface="Montserrat"/>
                <a:ea typeface="Montserrat"/>
                <a:cs typeface="Montserrat"/>
                <a:sym typeface="Montserrat"/>
              </a:rPr>
              <a:t>Propose project ideas</a:t>
            </a:r>
            <a:endParaRPr sz="2000">
              <a:latin typeface="Montserrat"/>
              <a:ea typeface="Montserrat"/>
              <a:cs typeface="Montserrat"/>
              <a:sym typeface="Montserrat"/>
            </a:endParaRPr>
          </a:p>
          <a:p>
            <a:pPr indent="-355600" lvl="0" marL="457200" rtl="0" algn="l">
              <a:spcBef>
                <a:spcPts val="0"/>
              </a:spcBef>
              <a:spcAft>
                <a:spcPts val="0"/>
              </a:spcAft>
              <a:buSzPts val="2000"/>
              <a:buFont typeface="Montserrat"/>
              <a:buAutoNum type="arabicPeriod"/>
            </a:pPr>
            <a:r>
              <a:rPr lang="en" sz="2000">
                <a:latin typeface="Montserrat"/>
                <a:ea typeface="Montserrat"/>
                <a:cs typeface="Montserrat"/>
                <a:sym typeface="Montserrat"/>
              </a:rPr>
              <a:t>Clarify user stories, software behaviors, and define the MVP scope</a:t>
            </a:r>
            <a:endParaRPr sz="2000">
              <a:latin typeface="Montserrat"/>
              <a:ea typeface="Montserrat"/>
              <a:cs typeface="Montserrat"/>
              <a:sym typeface="Montserrat"/>
            </a:endParaRPr>
          </a:p>
          <a:p>
            <a:pPr indent="-355600" lvl="0" marL="457200" rtl="0" algn="l">
              <a:spcBef>
                <a:spcPts val="0"/>
              </a:spcBef>
              <a:spcAft>
                <a:spcPts val="0"/>
              </a:spcAft>
              <a:buSzPts val="2000"/>
              <a:buFont typeface="Montserrat"/>
              <a:buAutoNum type="arabicPeriod"/>
            </a:pPr>
            <a:r>
              <a:rPr lang="en" sz="2000">
                <a:latin typeface="Montserrat"/>
                <a:ea typeface="Montserrat"/>
                <a:cs typeface="Montserrat"/>
                <a:sym typeface="Montserrat"/>
              </a:rPr>
              <a:t>Create mockups to illustrate product design</a:t>
            </a:r>
            <a:endParaRPr sz="2000">
              <a:latin typeface="Montserrat"/>
              <a:ea typeface="Montserrat"/>
              <a:cs typeface="Montserrat"/>
              <a:sym typeface="Montserrat"/>
            </a:endParaRPr>
          </a:p>
          <a:p>
            <a:pPr indent="-355600" lvl="0" marL="457200" rtl="0" algn="l">
              <a:spcBef>
                <a:spcPts val="0"/>
              </a:spcBef>
              <a:spcAft>
                <a:spcPts val="0"/>
              </a:spcAft>
              <a:buSzPts val="2000"/>
              <a:buFont typeface="Montserrat"/>
              <a:buAutoNum type="arabicPeriod"/>
            </a:pPr>
            <a:r>
              <a:rPr lang="en" sz="2000">
                <a:latin typeface="Montserrat"/>
                <a:ea typeface="Montserrat"/>
                <a:cs typeface="Montserrat"/>
                <a:sym typeface="Montserrat"/>
              </a:rPr>
              <a:t>Create Flask routes and HTML templates</a:t>
            </a:r>
            <a:endParaRPr sz="2000">
              <a:latin typeface="Montserrat"/>
              <a:ea typeface="Montserrat"/>
              <a:cs typeface="Montserrat"/>
              <a:sym typeface="Montserrat"/>
            </a:endParaRPr>
          </a:p>
          <a:p>
            <a:pPr indent="-355600" lvl="0" marL="457200" rtl="0" algn="l">
              <a:spcBef>
                <a:spcPts val="0"/>
              </a:spcBef>
              <a:spcAft>
                <a:spcPts val="0"/>
              </a:spcAft>
              <a:buSzPts val="2000"/>
              <a:buFont typeface="Montserrat"/>
              <a:buAutoNum type="arabicPeriod"/>
            </a:pPr>
            <a:r>
              <a:rPr lang="en" sz="2000">
                <a:latin typeface="Montserrat"/>
                <a:ea typeface="Montserrat"/>
                <a:cs typeface="Montserrat"/>
                <a:sym typeface="Montserrat"/>
              </a:rPr>
              <a:t>Design and create SQLite database and API methods</a:t>
            </a:r>
            <a:endParaRPr sz="2000">
              <a:latin typeface="Montserrat"/>
              <a:ea typeface="Montserrat"/>
              <a:cs typeface="Montserrat"/>
              <a:sym typeface="Montserrat"/>
            </a:endParaRPr>
          </a:p>
          <a:p>
            <a:pPr indent="-355600" lvl="0" marL="457200" rtl="0" algn="l">
              <a:spcBef>
                <a:spcPts val="0"/>
              </a:spcBef>
              <a:spcAft>
                <a:spcPts val="0"/>
              </a:spcAft>
              <a:buSzPts val="2000"/>
              <a:buFont typeface="Montserrat"/>
              <a:buAutoNum type="arabicPeriod"/>
            </a:pPr>
            <a:r>
              <a:rPr lang="en" sz="2000">
                <a:latin typeface="Montserrat"/>
                <a:ea typeface="Montserrat"/>
                <a:cs typeface="Montserrat"/>
                <a:sym typeface="Montserrat"/>
              </a:rPr>
              <a:t>Connect the front-end and the back-end</a:t>
            </a:r>
            <a:endParaRPr sz="2000">
              <a:latin typeface="Montserrat"/>
              <a:ea typeface="Montserrat"/>
              <a:cs typeface="Montserrat"/>
              <a:sym typeface="Montserrat"/>
            </a:endParaRPr>
          </a:p>
          <a:p>
            <a:pPr indent="-355600" lvl="0" marL="457200" rtl="0" algn="l">
              <a:spcBef>
                <a:spcPts val="0"/>
              </a:spcBef>
              <a:spcAft>
                <a:spcPts val="0"/>
              </a:spcAft>
              <a:buSzPts val="2000"/>
              <a:buFont typeface="Montserrat"/>
              <a:buAutoNum type="arabicPeriod"/>
            </a:pPr>
            <a:r>
              <a:rPr lang="en" sz="2000">
                <a:latin typeface="Montserrat"/>
                <a:ea typeface="Montserrat"/>
                <a:cs typeface="Montserrat"/>
                <a:sym typeface="Montserrat"/>
              </a:rPr>
              <a:t>Test the prototype, troubleshoot issues, and add missing pieces</a:t>
            </a:r>
            <a:endParaRPr sz="2000">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115" name="Shape 115"/>
        <p:cNvGrpSpPr/>
        <p:nvPr/>
      </p:nvGrpSpPr>
      <p:grpSpPr>
        <a:xfrm>
          <a:off x="0" y="0"/>
          <a:ext cx="0" cy="0"/>
          <a:chOff x="0" y="0"/>
          <a:chExt cx="0" cy="0"/>
        </a:xfrm>
      </p:grpSpPr>
      <p:sp>
        <p:nvSpPr>
          <p:cNvPr id="116" name="Google Shape;116;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latin typeface="Montserrat"/>
                <a:ea typeface="Montserrat"/>
                <a:cs typeface="Montserrat"/>
                <a:sym typeface="Montserrat"/>
              </a:rPr>
              <a:t>Our Team</a:t>
            </a:r>
            <a:endParaRPr>
              <a:latin typeface="Montserrat"/>
              <a:ea typeface="Montserrat"/>
              <a:cs typeface="Montserrat"/>
              <a:sym typeface="Montserrat"/>
            </a:endParaRPr>
          </a:p>
        </p:txBody>
      </p:sp>
      <p:sp>
        <p:nvSpPr>
          <p:cNvPr id="117" name="Google Shape;117;p21"/>
          <p:cNvSpPr txBox="1"/>
          <p:nvPr>
            <p:ph idx="4294967295" type="body"/>
          </p:nvPr>
        </p:nvSpPr>
        <p:spPr>
          <a:xfrm>
            <a:off x="460950" y="787100"/>
            <a:ext cx="8222100" cy="4201800"/>
          </a:xfrm>
          <a:prstGeom prst="rect">
            <a:avLst/>
          </a:prstGeom>
        </p:spPr>
        <p:txBody>
          <a:bodyPr anchorCtr="0" anchor="t" bIns="91425" lIns="91425" spcFirstLastPara="1" rIns="91425" wrap="square" tIns="91425">
            <a:noAutofit/>
          </a:bodyPr>
          <a:lstStyle/>
          <a:p>
            <a:pPr indent="-351155" lvl="0" marL="457200" rtl="0" algn="l">
              <a:lnSpc>
                <a:spcPct val="95000"/>
              </a:lnSpc>
              <a:spcBef>
                <a:spcPts val="0"/>
              </a:spcBef>
              <a:spcAft>
                <a:spcPts val="0"/>
              </a:spcAft>
              <a:buSzPts val="1930"/>
              <a:buFont typeface="Montserrat"/>
              <a:buChar char="●"/>
            </a:pPr>
            <a:r>
              <a:rPr b="1" lang="en" sz="1930">
                <a:latin typeface="Montserrat"/>
                <a:ea typeface="Montserrat"/>
                <a:cs typeface="Montserrat"/>
                <a:sym typeface="Montserrat"/>
              </a:rPr>
              <a:t>All</a:t>
            </a:r>
            <a:endParaRPr b="1" sz="1930">
              <a:latin typeface="Montserrat"/>
              <a:ea typeface="Montserrat"/>
              <a:cs typeface="Montserrat"/>
              <a:sym typeface="Montserrat"/>
            </a:endParaRPr>
          </a:p>
          <a:p>
            <a:pPr indent="-329565" lvl="1" marL="914400" rtl="0" algn="l">
              <a:lnSpc>
                <a:spcPct val="95000"/>
              </a:lnSpc>
              <a:spcBef>
                <a:spcPts val="0"/>
              </a:spcBef>
              <a:spcAft>
                <a:spcPts val="0"/>
              </a:spcAft>
              <a:buSzPts val="1590"/>
              <a:buFont typeface="Montserrat"/>
              <a:buChar char="○"/>
            </a:pPr>
            <a:r>
              <a:rPr lang="en" sz="1590">
                <a:latin typeface="Montserrat"/>
                <a:ea typeface="Montserrat"/>
                <a:cs typeface="Montserrat"/>
                <a:sym typeface="Montserrat"/>
              </a:rPr>
              <a:t>Flask routes, SQL, CSS, and HTML related to our individual pages</a:t>
            </a:r>
            <a:endParaRPr sz="1590">
              <a:latin typeface="Montserrat"/>
              <a:ea typeface="Montserrat"/>
              <a:cs typeface="Montserrat"/>
              <a:sym typeface="Montserrat"/>
            </a:endParaRPr>
          </a:p>
          <a:p>
            <a:pPr indent="-351155" lvl="0" marL="457200" rtl="0" algn="l">
              <a:lnSpc>
                <a:spcPct val="95000"/>
              </a:lnSpc>
              <a:spcBef>
                <a:spcPts val="0"/>
              </a:spcBef>
              <a:spcAft>
                <a:spcPts val="0"/>
              </a:spcAft>
              <a:buSzPts val="1930"/>
              <a:buFont typeface="Montserrat"/>
              <a:buChar char="●"/>
            </a:pPr>
            <a:r>
              <a:rPr b="1" lang="en" sz="1930">
                <a:latin typeface="Montserrat"/>
                <a:ea typeface="Montserrat"/>
                <a:cs typeface="Montserrat"/>
                <a:sym typeface="Montserrat"/>
              </a:rPr>
              <a:t>Hannah</a:t>
            </a:r>
            <a:endParaRPr b="1" sz="1930">
              <a:latin typeface="Montserrat"/>
              <a:ea typeface="Montserrat"/>
              <a:cs typeface="Montserrat"/>
              <a:sym typeface="Montserrat"/>
            </a:endParaRPr>
          </a:p>
          <a:p>
            <a:pPr indent="-329565" lvl="1" marL="914400" rtl="0" algn="l">
              <a:lnSpc>
                <a:spcPct val="95000"/>
              </a:lnSpc>
              <a:spcBef>
                <a:spcPts val="0"/>
              </a:spcBef>
              <a:spcAft>
                <a:spcPts val="0"/>
              </a:spcAft>
              <a:buSzPts val="1590"/>
              <a:buFont typeface="Montserrat"/>
              <a:buChar char="○"/>
            </a:pPr>
            <a:r>
              <a:rPr lang="en" sz="1590">
                <a:latin typeface="Montserrat"/>
                <a:ea typeface="Montserrat"/>
                <a:cs typeface="Montserrat"/>
                <a:sym typeface="Montserrat"/>
              </a:rPr>
              <a:t>Main Flask backend structure</a:t>
            </a:r>
            <a:endParaRPr sz="1590">
              <a:latin typeface="Montserrat"/>
              <a:ea typeface="Montserrat"/>
              <a:cs typeface="Montserrat"/>
              <a:sym typeface="Montserrat"/>
            </a:endParaRPr>
          </a:p>
          <a:p>
            <a:pPr indent="-329565" lvl="1" marL="914400" rtl="0" algn="l">
              <a:lnSpc>
                <a:spcPct val="95000"/>
              </a:lnSpc>
              <a:spcBef>
                <a:spcPts val="0"/>
              </a:spcBef>
              <a:spcAft>
                <a:spcPts val="0"/>
              </a:spcAft>
              <a:buSzPts val="1590"/>
              <a:buFont typeface="Montserrat"/>
              <a:buChar char="○"/>
            </a:pPr>
            <a:r>
              <a:rPr lang="en" sz="1590">
                <a:latin typeface="Montserrat"/>
                <a:ea typeface="Montserrat"/>
                <a:cs typeface="Montserrat"/>
                <a:sym typeface="Montserrat"/>
              </a:rPr>
              <a:t>Overall website CSS styling, HTML skeletons for each page</a:t>
            </a:r>
            <a:endParaRPr sz="1590">
              <a:latin typeface="Montserrat"/>
              <a:ea typeface="Montserrat"/>
              <a:cs typeface="Montserrat"/>
              <a:sym typeface="Montserrat"/>
            </a:endParaRPr>
          </a:p>
          <a:p>
            <a:pPr indent="-329565" lvl="1" marL="914400" rtl="0" algn="l">
              <a:lnSpc>
                <a:spcPct val="95000"/>
              </a:lnSpc>
              <a:spcBef>
                <a:spcPts val="0"/>
              </a:spcBef>
              <a:spcAft>
                <a:spcPts val="0"/>
              </a:spcAft>
              <a:buSzPts val="1590"/>
              <a:buFont typeface="Montserrat"/>
              <a:buChar char="○"/>
            </a:pPr>
            <a:r>
              <a:rPr lang="en" sz="1590">
                <a:latin typeface="Montserrat"/>
                <a:ea typeface="Montserrat"/>
                <a:cs typeface="Montserrat"/>
                <a:sym typeface="Montserrat"/>
              </a:rPr>
              <a:t>Pages: Base, Home, About, Browse Courses, Course Details</a:t>
            </a:r>
            <a:endParaRPr sz="1590">
              <a:latin typeface="Montserrat"/>
              <a:ea typeface="Montserrat"/>
              <a:cs typeface="Montserrat"/>
              <a:sym typeface="Montserrat"/>
            </a:endParaRPr>
          </a:p>
          <a:p>
            <a:pPr indent="-351155" lvl="0" marL="457200" rtl="0" algn="l">
              <a:lnSpc>
                <a:spcPct val="95000"/>
              </a:lnSpc>
              <a:spcBef>
                <a:spcPts val="0"/>
              </a:spcBef>
              <a:spcAft>
                <a:spcPts val="0"/>
              </a:spcAft>
              <a:buSzPts val="1930"/>
              <a:buFont typeface="Montserrat"/>
              <a:buChar char="●"/>
            </a:pPr>
            <a:r>
              <a:rPr b="1" lang="en" sz="1930">
                <a:latin typeface="Montserrat"/>
                <a:ea typeface="Montserrat"/>
                <a:cs typeface="Montserrat"/>
                <a:sym typeface="Montserrat"/>
              </a:rPr>
              <a:t>Adam</a:t>
            </a:r>
            <a:endParaRPr b="1" sz="1930">
              <a:latin typeface="Montserrat"/>
              <a:ea typeface="Montserrat"/>
              <a:cs typeface="Montserrat"/>
              <a:sym typeface="Montserrat"/>
            </a:endParaRPr>
          </a:p>
          <a:p>
            <a:pPr indent="-329565" lvl="1" marL="914400" rtl="0" algn="l">
              <a:lnSpc>
                <a:spcPct val="95000"/>
              </a:lnSpc>
              <a:spcBef>
                <a:spcPts val="0"/>
              </a:spcBef>
              <a:spcAft>
                <a:spcPts val="0"/>
              </a:spcAft>
              <a:buSzPts val="1590"/>
              <a:buFont typeface="Montserrat"/>
              <a:buChar char="○"/>
            </a:pPr>
            <a:r>
              <a:rPr lang="en" sz="1590">
                <a:latin typeface="Montserrat"/>
                <a:ea typeface="Montserrat"/>
                <a:cs typeface="Montserrat"/>
                <a:sym typeface="Montserrat"/>
              </a:rPr>
              <a:t>Flask user sessions and authentication</a:t>
            </a:r>
            <a:endParaRPr sz="1590">
              <a:latin typeface="Montserrat"/>
              <a:ea typeface="Montserrat"/>
              <a:cs typeface="Montserrat"/>
              <a:sym typeface="Montserrat"/>
            </a:endParaRPr>
          </a:p>
          <a:p>
            <a:pPr indent="-329565" lvl="1" marL="914400" rtl="0" algn="l">
              <a:lnSpc>
                <a:spcPct val="95000"/>
              </a:lnSpc>
              <a:spcBef>
                <a:spcPts val="0"/>
              </a:spcBef>
              <a:spcAft>
                <a:spcPts val="0"/>
              </a:spcAft>
              <a:buSzPts val="1590"/>
              <a:buFont typeface="Montserrat"/>
              <a:buChar char="○"/>
            </a:pPr>
            <a:r>
              <a:rPr lang="en" sz="1590">
                <a:latin typeface="Montserrat"/>
                <a:ea typeface="Montserrat"/>
                <a:cs typeface="Montserrat"/>
                <a:sym typeface="Montserrat"/>
              </a:rPr>
              <a:t>Pages: Login, Sign Up, Logout, Profile, User </a:t>
            </a:r>
            <a:r>
              <a:rPr lang="en" sz="1590">
                <a:latin typeface="Montserrat"/>
                <a:ea typeface="Montserrat"/>
                <a:cs typeface="Montserrat"/>
                <a:sym typeface="Montserrat"/>
              </a:rPr>
              <a:t>Update</a:t>
            </a:r>
            <a:r>
              <a:rPr lang="en" sz="1590">
                <a:latin typeface="Montserrat"/>
                <a:ea typeface="Montserrat"/>
                <a:cs typeface="Montserrat"/>
                <a:sym typeface="Montserrat"/>
              </a:rPr>
              <a:t> Info</a:t>
            </a:r>
            <a:endParaRPr sz="1590">
              <a:latin typeface="Montserrat"/>
              <a:ea typeface="Montserrat"/>
              <a:cs typeface="Montserrat"/>
              <a:sym typeface="Montserrat"/>
            </a:endParaRPr>
          </a:p>
          <a:p>
            <a:pPr indent="-351155" lvl="0" marL="457200" rtl="0" algn="l">
              <a:lnSpc>
                <a:spcPct val="95000"/>
              </a:lnSpc>
              <a:spcBef>
                <a:spcPts val="0"/>
              </a:spcBef>
              <a:spcAft>
                <a:spcPts val="0"/>
              </a:spcAft>
              <a:buSzPts val="1930"/>
              <a:buFont typeface="Montserrat"/>
              <a:buChar char="●"/>
            </a:pPr>
            <a:r>
              <a:rPr b="1" lang="en" sz="1930">
                <a:latin typeface="Montserrat"/>
                <a:ea typeface="Montserrat"/>
                <a:cs typeface="Montserrat"/>
                <a:sym typeface="Montserrat"/>
              </a:rPr>
              <a:t>Sean</a:t>
            </a:r>
            <a:endParaRPr b="1" sz="1930">
              <a:latin typeface="Montserrat"/>
              <a:ea typeface="Montserrat"/>
              <a:cs typeface="Montserrat"/>
              <a:sym typeface="Montserrat"/>
            </a:endParaRPr>
          </a:p>
          <a:p>
            <a:pPr indent="-329565" lvl="1" marL="914400" rtl="0" algn="l">
              <a:lnSpc>
                <a:spcPct val="95000"/>
              </a:lnSpc>
              <a:spcBef>
                <a:spcPts val="0"/>
              </a:spcBef>
              <a:spcAft>
                <a:spcPts val="0"/>
              </a:spcAft>
              <a:buSzPts val="1590"/>
              <a:buFont typeface="Montserrat"/>
              <a:buChar char="○"/>
            </a:pPr>
            <a:r>
              <a:rPr lang="en" sz="1590">
                <a:latin typeface="Montserrat"/>
                <a:ea typeface="Montserrat"/>
                <a:cs typeface="Montserrat"/>
                <a:sym typeface="Montserrat"/>
              </a:rPr>
              <a:t>SQL backend structure and methods (dbAPI, create and reset db)</a:t>
            </a:r>
            <a:endParaRPr sz="1590">
              <a:latin typeface="Montserrat"/>
              <a:ea typeface="Montserrat"/>
              <a:cs typeface="Montserrat"/>
              <a:sym typeface="Montserrat"/>
            </a:endParaRPr>
          </a:p>
          <a:p>
            <a:pPr indent="-329565" lvl="1" marL="914400" rtl="0" algn="l">
              <a:lnSpc>
                <a:spcPct val="95000"/>
              </a:lnSpc>
              <a:spcBef>
                <a:spcPts val="0"/>
              </a:spcBef>
              <a:spcAft>
                <a:spcPts val="0"/>
              </a:spcAft>
              <a:buSzPts val="1590"/>
              <a:buFont typeface="Montserrat"/>
              <a:buChar char="○"/>
            </a:pPr>
            <a:r>
              <a:rPr lang="en" sz="1590">
                <a:latin typeface="Montserrat"/>
                <a:ea typeface="Montserrat"/>
                <a:cs typeface="Montserrat"/>
                <a:sym typeface="Montserrat"/>
              </a:rPr>
              <a:t>Pages: Admin Panel, Admin Edit &amp; Add Course, Edit Review</a:t>
            </a:r>
            <a:endParaRPr sz="1590">
              <a:latin typeface="Montserrat"/>
              <a:ea typeface="Montserrat"/>
              <a:cs typeface="Montserrat"/>
              <a:sym typeface="Montserrat"/>
            </a:endParaRPr>
          </a:p>
          <a:p>
            <a:pPr indent="-351155" lvl="0" marL="457200" rtl="0" algn="l">
              <a:lnSpc>
                <a:spcPct val="95000"/>
              </a:lnSpc>
              <a:spcBef>
                <a:spcPts val="0"/>
              </a:spcBef>
              <a:spcAft>
                <a:spcPts val="0"/>
              </a:spcAft>
              <a:buSzPts val="1930"/>
              <a:buFont typeface="Montserrat"/>
              <a:buChar char="●"/>
            </a:pPr>
            <a:r>
              <a:rPr b="1" lang="en" sz="1930">
                <a:latin typeface="Montserrat"/>
                <a:ea typeface="Montserrat"/>
                <a:cs typeface="Montserrat"/>
                <a:sym typeface="Montserrat"/>
              </a:rPr>
              <a:t>Craig</a:t>
            </a:r>
            <a:endParaRPr b="1" sz="1930">
              <a:latin typeface="Montserrat"/>
              <a:ea typeface="Montserrat"/>
              <a:cs typeface="Montserrat"/>
              <a:sym typeface="Montserrat"/>
            </a:endParaRPr>
          </a:p>
          <a:p>
            <a:pPr indent="-329565" lvl="1" marL="914400" rtl="0" algn="l">
              <a:lnSpc>
                <a:spcPct val="95000"/>
              </a:lnSpc>
              <a:spcBef>
                <a:spcPts val="0"/>
              </a:spcBef>
              <a:spcAft>
                <a:spcPts val="0"/>
              </a:spcAft>
              <a:buSzPts val="1590"/>
              <a:buFont typeface="Montserrat"/>
              <a:buChar char="○"/>
            </a:pPr>
            <a:r>
              <a:rPr lang="en" sz="1590">
                <a:latin typeface="Montserrat"/>
                <a:ea typeface="Montserrat"/>
                <a:cs typeface="Montserrat"/>
                <a:sym typeface="Montserrat"/>
              </a:rPr>
              <a:t>Repo structure / skeleton</a:t>
            </a:r>
            <a:endParaRPr sz="1590">
              <a:latin typeface="Montserrat"/>
              <a:ea typeface="Montserrat"/>
              <a:cs typeface="Montserrat"/>
              <a:sym typeface="Montserrat"/>
            </a:endParaRPr>
          </a:p>
          <a:p>
            <a:pPr indent="-329565" lvl="1" marL="914400" rtl="0" algn="l">
              <a:lnSpc>
                <a:spcPct val="95000"/>
              </a:lnSpc>
              <a:spcBef>
                <a:spcPts val="0"/>
              </a:spcBef>
              <a:spcAft>
                <a:spcPts val="0"/>
              </a:spcAft>
              <a:buSzPts val="1590"/>
              <a:buFont typeface="Montserrat"/>
              <a:buChar char="○"/>
            </a:pPr>
            <a:r>
              <a:rPr lang="en" sz="1590">
                <a:latin typeface="Montserrat"/>
                <a:ea typeface="Montserrat"/>
                <a:cs typeface="Montserrat"/>
                <a:sym typeface="Montserrat"/>
              </a:rPr>
              <a:t>models.py backend</a:t>
            </a:r>
            <a:r>
              <a:rPr lang="en" sz="1590">
                <a:latin typeface="Montserrat"/>
                <a:ea typeface="Montserrat"/>
                <a:cs typeface="Montserrat"/>
                <a:sym typeface="Montserrat"/>
              </a:rPr>
              <a:t> </a:t>
            </a:r>
            <a:r>
              <a:rPr lang="en" sz="1590">
                <a:latin typeface="Montserrat"/>
                <a:ea typeface="Montserrat"/>
                <a:cs typeface="Montserrat"/>
                <a:sym typeface="Montserrat"/>
              </a:rPr>
              <a:t>methods</a:t>
            </a:r>
            <a:r>
              <a:rPr lang="en" sz="1590">
                <a:latin typeface="Montserrat"/>
                <a:ea typeface="Montserrat"/>
                <a:cs typeface="Montserrat"/>
                <a:sym typeface="Montserrat"/>
              </a:rPr>
              <a:t> and course objects</a:t>
            </a:r>
            <a:endParaRPr sz="1590">
              <a:latin typeface="Montserrat"/>
              <a:ea typeface="Montserrat"/>
              <a:cs typeface="Montserrat"/>
              <a:sym typeface="Montserrat"/>
            </a:endParaRPr>
          </a:p>
          <a:p>
            <a:pPr indent="-329565" lvl="1" marL="914400" rtl="0" algn="l">
              <a:lnSpc>
                <a:spcPct val="95000"/>
              </a:lnSpc>
              <a:spcBef>
                <a:spcPts val="0"/>
              </a:spcBef>
              <a:spcAft>
                <a:spcPts val="0"/>
              </a:spcAft>
              <a:buSzPts val="1590"/>
              <a:buFont typeface="Montserrat"/>
              <a:buChar char="○"/>
            </a:pPr>
            <a:r>
              <a:rPr lang="en" sz="1590">
                <a:latin typeface="Montserrat"/>
                <a:ea typeface="Montserrat"/>
                <a:cs typeface="Montserrat"/>
                <a:sym typeface="Montserrat"/>
              </a:rPr>
              <a:t>Pages: </a:t>
            </a:r>
            <a:r>
              <a:rPr lang="en" sz="1590">
                <a:latin typeface="Montserrat"/>
                <a:ea typeface="Montserrat"/>
                <a:cs typeface="Montserrat"/>
                <a:sym typeface="Montserrat"/>
              </a:rPr>
              <a:t>Submit</a:t>
            </a:r>
            <a:r>
              <a:rPr lang="en" sz="1590">
                <a:latin typeface="Montserrat"/>
                <a:ea typeface="Montserrat"/>
                <a:cs typeface="Montserrat"/>
                <a:sym typeface="Montserrat"/>
              </a:rPr>
              <a:t> Review form and related functions for inserting into db</a:t>
            </a:r>
            <a:endParaRPr sz="1590">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121" name="Shape 121"/>
        <p:cNvGrpSpPr/>
        <p:nvPr/>
      </p:nvGrpSpPr>
      <p:grpSpPr>
        <a:xfrm>
          <a:off x="0" y="0"/>
          <a:ext cx="0" cy="0"/>
          <a:chOff x="0" y="0"/>
          <a:chExt cx="0" cy="0"/>
        </a:xfrm>
      </p:grpSpPr>
      <p:sp>
        <p:nvSpPr>
          <p:cNvPr id="122" name="Google Shape;122;p2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2400">
                <a:latin typeface="Montserrat"/>
                <a:ea typeface="Montserrat"/>
                <a:cs typeface="Montserrat"/>
                <a:sym typeface="Montserrat"/>
              </a:rPr>
              <a:t>Demo</a:t>
            </a:r>
            <a:endParaRPr sz="2400">
              <a:latin typeface="Montserrat"/>
              <a:ea typeface="Montserrat"/>
              <a:cs typeface="Montserrat"/>
              <a:sym typeface="Montserrat"/>
            </a:endParaRPr>
          </a:p>
        </p:txBody>
      </p:sp>
      <p:pic>
        <p:nvPicPr>
          <p:cNvPr id="123" name="Google Shape;123;p22"/>
          <p:cNvPicPr preferRelativeResize="0"/>
          <p:nvPr/>
        </p:nvPicPr>
        <p:blipFill>
          <a:blip r:embed="rId3">
            <a:alphaModFix/>
          </a:blip>
          <a:stretch>
            <a:fillRect/>
          </a:stretch>
        </p:blipFill>
        <p:spPr>
          <a:xfrm>
            <a:off x="1489163" y="785200"/>
            <a:ext cx="6165675" cy="42502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127" name="Shape 127"/>
        <p:cNvGrpSpPr/>
        <p:nvPr/>
      </p:nvGrpSpPr>
      <p:grpSpPr>
        <a:xfrm>
          <a:off x="0" y="0"/>
          <a:ext cx="0" cy="0"/>
          <a:chOff x="0" y="0"/>
          <a:chExt cx="0" cy="0"/>
        </a:xfrm>
      </p:grpSpPr>
      <p:sp>
        <p:nvSpPr>
          <p:cNvPr id="128" name="Google Shape;128;p2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Montserrat"/>
                <a:ea typeface="Montserrat"/>
                <a:cs typeface="Montserrat"/>
                <a:sym typeface="Montserrat"/>
              </a:rPr>
              <a:t>Future Features &amp; Improvements</a:t>
            </a:r>
            <a:endParaRPr>
              <a:latin typeface="Montserrat"/>
              <a:ea typeface="Montserrat"/>
              <a:cs typeface="Montserrat"/>
              <a:sym typeface="Montserrat"/>
            </a:endParaRPr>
          </a:p>
        </p:txBody>
      </p:sp>
      <p:sp>
        <p:nvSpPr>
          <p:cNvPr id="129" name="Google Shape;129;p23"/>
          <p:cNvSpPr txBox="1"/>
          <p:nvPr>
            <p:ph idx="1" type="body"/>
          </p:nvPr>
        </p:nvSpPr>
        <p:spPr>
          <a:xfrm>
            <a:off x="244425" y="1913075"/>
            <a:ext cx="8572500" cy="2976900"/>
          </a:xfrm>
          <a:prstGeom prst="rect">
            <a:avLst/>
          </a:prstGeom>
        </p:spPr>
        <p:txBody>
          <a:bodyPr anchorCtr="0" anchor="t" bIns="91425" lIns="91425" spcFirstLastPara="1" rIns="91425" wrap="square" tIns="91425">
            <a:normAutofit/>
          </a:bodyPr>
          <a:lstStyle/>
          <a:p>
            <a:pPr indent="-374650" lvl="0" marL="457200" rtl="0" algn="l">
              <a:spcBef>
                <a:spcPts val="0"/>
              </a:spcBef>
              <a:spcAft>
                <a:spcPts val="0"/>
              </a:spcAft>
              <a:buSzPts val="2300"/>
              <a:buFont typeface="Montserrat"/>
              <a:buChar char="●"/>
            </a:pPr>
            <a:r>
              <a:rPr lang="en" sz="2300">
                <a:latin typeface="Montserrat"/>
                <a:ea typeface="Montserrat"/>
                <a:cs typeface="Montserrat"/>
                <a:sym typeface="Montserrat"/>
              </a:rPr>
              <a:t>Profile/course pictures</a:t>
            </a:r>
            <a:endParaRPr sz="2300">
              <a:latin typeface="Montserrat"/>
              <a:ea typeface="Montserrat"/>
              <a:cs typeface="Montserrat"/>
              <a:sym typeface="Montserrat"/>
            </a:endParaRPr>
          </a:p>
          <a:p>
            <a:pPr indent="-374650" lvl="0" marL="457200" rtl="0" algn="l">
              <a:spcBef>
                <a:spcPts val="0"/>
              </a:spcBef>
              <a:spcAft>
                <a:spcPts val="0"/>
              </a:spcAft>
              <a:buSzPts val="2300"/>
              <a:buFont typeface="Montserrat"/>
              <a:buChar char="●"/>
            </a:pPr>
            <a:r>
              <a:rPr lang="en" sz="2300">
                <a:latin typeface="Montserrat"/>
                <a:ea typeface="Montserrat"/>
                <a:cs typeface="Montserrat"/>
                <a:sym typeface="Montserrat"/>
              </a:rPr>
              <a:t>Username, email, &amp; password validation</a:t>
            </a:r>
            <a:endParaRPr sz="2300">
              <a:latin typeface="Montserrat"/>
              <a:ea typeface="Montserrat"/>
              <a:cs typeface="Montserrat"/>
              <a:sym typeface="Montserrat"/>
            </a:endParaRPr>
          </a:p>
          <a:p>
            <a:pPr indent="-374650" lvl="0" marL="457200" rtl="0" algn="l">
              <a:spcBef>
                <a:spcPts val="0"/>
              </a:spcBef>
              <a:spcAft>
                <a:spcPts val="0"/>
              </a:spcAft>
              <a:buSzPts val="2300"/>
              <a:buFont typeface="Montserrat"/>
              <a:buChar char="●"/>
            </a:pPr>
            <a:r>
              <a:rPr lang="en" sz="2300">
                <a:latin typeface="Montserrat"/>
                <a:ea typeface="Montserrat"/>
                <a:cs typeface="Montserrat"/>
                <a:sym typeface="Montserrat"/>
              </a:rPr>
              <a:t>Expand admin operations</a:t>
            </a:r>
            <a:endParaRPr sz="2300">
              <a:latin typeface="Montserrat"/>
              <a:ea typeface="Montserrat"/>
              <a:cs typeface="Montserrat"/>
              <a:sym typeface="Montserrat"/>
            </a:endParaRPr>
          </a:p>
          <a:p>
            <a:pPr indent="-374650" lvl="0" marL="457200" rtl="0" algn="l">
              <a:spcBef>
                <a:spcPts val="0"/>
              </a:spcBef>
              <a:spcAft>
                <a:spcPts val="0"/>
              </a:spcAft>
              <a:buSzPts val="2300"/>
              <a:buFont typeface="Montserrat"/>
              <a:buChar char="●"/>
            </a:pPr>
            <a:r>
              <a:rPr lang="en" sz="2300">
                <a:latin typeface="Montserrat"/>
                <a:ea typeface="Montserrat"/>
                <a:cs typeface="Montserrat"/>
                <a:sym typeface="Montserrat"/>
              </a:rPr>
              <a:t>More review features (commenting)</a:t>
            </a:r>
            <a:endParaRPr sz="2300">
              <a:latin typeface="Montserrat"/>
              <a:ea typeface="Montserrat"/>
              <a:cs typeface="Montserrat"/>
              <a:sym typeface="Montserrat"/>
            </a:endParaRPr>
          </a:p>
          <a:p>
            <a:pPr indent="-374650" lvl="0" marL="457200" rtl="0" algn="l">
              <a:spcBef>
                <a:spcPts val="0"/>
              </a:spcBef>
              <a:spcAft>
                <a:spcPts val="0"/>
              </a:spcAft>
              <a:buSzPts val="2300"/>
              <a:buFont typeface="Montserrat"/>
              <a:buChar char="●"/>
            </a:pPr>
            <a:r>
              <a:rPr lang="en" sz="2300">
                <a:latin typeface="Montserrat"/>
                <a:ea typeface="Montserrat"/>
                <a:cs typeface="Montserrat"/>
                <a:sym typeface="Montserrat"/>
              </a:rPr>
              <a:t>Search filters for courses &amp; reviews</a:t>
            </a:r>
            <a:endParaRPr sz="2300">
              <a:latin typeface="Montserrat"/>
              <a:ea typeface="Montserrat"/>
              <a:cs typeface="Montserrat"/>
              <a:sym typeface="Montserrat"/>
            </a:endParaRPr>
          </a:p>
          <a:p>
            <a:pPr indent="-374650" lvl="0" marL="457200" rtl="0" algn="l">
              <a:spcBef>
                <a:spcPts val="0"/>
              </a:spcBef>
              <a:spcAft>
                <a:spcPts val="0"/>
              </a:spcAft>
              <a:buSzPts val="2300"/>
              <a:buFont typeface="Montserrat"/>
              <a:buChar char="●"/>
            </a:pPr>
            <a:r>
              <a:rPr lang="en" sz="2300">
                <a:latin typeface="Montserrat"/>
                <a:ea typeface="Montserrat"/>
                <a:cs typeface="Montserrat"/>
                <a:sym typeface="Montserrat"/>
              </a:rPr>
              <a:t>Better responsiveness for smaller screens</a:t>
            </a:r>
            <a:endParaRPr sz="2300">
              <a:latin typeface="Montserrat"/>
              <a:ea typeface="Montserrat"/>
              <a:cs typeface="Montserrat"/>
              <a:sym typeface="Montserrat"/>
            </a:endParaRPr>
          </a:p>
          <a:p>
            <a:pPr indent="-374650" lvl="0" marL="457200" rtl="0" algn="l">
              <a:spcBef>
                <a:spcPts val="0"/>
              </a:spcBef>
              <a:spcAft>
                <a:spcPts val="0"/>
              </a:spcAft>
              <a:buSzPts val="2300"/>
              <a:buFont typeface="Montserrat"/>
              <a:buChar char="●"/>
            </a:pPr>
            <a:r>
              <a:rPr lang="en" sz="2300">
                <a:latin typeface="Montserrat"/>
                <a:ea typeface="Montserrat"/>
                <a:cs typeface="Montserrat"/>
                <a:sym typeface="Montserrat"/>
              </a:rPr>
              <a:t>Increase database resilience</a:t>
            </a:r>
            <a:endParaRPr sz="2300">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133" name="Shape 133"/>
        <p:cNvGrpSpPr/>
        <p:nvPr/>
      </p:nvGrpSpPr>
      <p:grpSpPr>
        <a:xfrm>
          <a:off x="0" y="0"/>
          <a:ext cx="0" cy="0"/>
          <a:chOff x="0" y="0"/>
          <a:chExt cx="0" cy="0"/>
        </a:xfrm>
      </p:grpSpPr>
      <p:sp>
        <p:nvSpPr>
          <p:cNvPr id="134" name="Google Shape;134;p2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Montserrat"/>
                <a:ea typeface="Montserrat"/>
                <a:cs typeface="Montserrat"/>
                <a:sym typeface="Montserrat"/>
              </a:rPr>
              <a:t>Reflection - Team Dynamics</a:t>
            </a:r>
            <a:endParaRPr>
              <a:latin typeface="Montserrat"/>
              <a:ea typeface="Montserrat"/>
              <a:cs typeface="Montserrat"/>
              <a:sym typeface="Montserrat"/>
            </a:endParaRPr>
          </a:p>
        </p:txBody>
      </p:sp>
      <p:sp>
        <p:nvSpPr>
          <p:cNvPr id="135" name="Google Shape;135;p24"/>
          <p:cNvSpPr txBox="1"/>
          <p:nvPr>
            <p:ph idx="1" type="body"/>
          </p:nvPr>
        </p:nvSpPr>
        <p:spPr>
          <a:xfrm>
            <a:off x="471900" y="1919075"/>
            <a:ext cx="8222100" cy="305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Montserrat"/>
              <a:buChar char="●"/>
            </a:pPr>
            <a:r>
              <a:rPr b="1" lang="en">
                <a:latin typeface="Montserrat"/>
                <a:ea typeface="Montserrat"/>
                <a:cs typeface="Montserrat"/>
                <a:sym typeface="Montserrat"/>
              </a:rPr>
              <a:t>New team members</a:t>
            </a:r>
            <a:endParaRPr b="1">
              <a:latin typeface="Montserrat"/>
              <a:ea typeface="Montserrat"/>
              <a:cs typeface="Montserrat"/>
              <a:sym typeface="Montserrat"/>
            </a:endParaRPr>
          </a:p>
          <a:p>
            <a:pPr indent="-317500" lvl="1" marL="914400" rtl="0" algn="l">
              <a:spcBef>
                <a:spcPts val="0"/>
              </a:spcBef>
              <a:spcAft>
                <a:spcPts val="0"/>
              </a:spcAft>
              <a:buSzPts val="1400"/>
              <a:buFont typeface="Montserrat"/>
              <a:buChar char="○"/>
            </a:pPr>
            <a:r>
              <a:rPr lang="en" sz="1400">
                <a:latin typeface="Montserrat"/>
                <a:ea typeface="Montserrat"/>
                <a:cs typeface="Montserrat"/>
                <a:sym typeface="Montserrat"/>
              </a:rPr>
              <a:t>Different work styles and experience levels w</a:t>
            </a:r>
            <a:r>
              <a:rPr lang="en">
                <a:latin typeface="Montserrat"/>
                <a:ea typeface="Montserrat"/>
                <a:cs typeface="Montserrat"/>
                <a:sym typeface="Montserrat"/>
              </a:rPr>
              <a:t>hile learning and implementing software development methodologies</a:t>
            </a:r>
            <a:endParaRPr>
              <a:latin typeface="Montserrat"/>
              <a:ea typeface="Montserrat"/>
              <a:cs typeface="Montserrat"/>
              <a:sym typeface="Montserrat"/>
            </a:endParaRPr>
          </a:p>
          <a:p>
            <a:pPr indent="-317500" lvl="1" marL="914400" rtl="0" algn="l">
              <a:spcBef>
                <a:spcPts val="0"/>
              </a:spcBef>
              <a:spcAft>
                <a:spcPts val="0"/>
              </a:spcAft>
              <a:buSzPts val="1400"/>
              <a:buFont typeface="Montserrat"/>
              <a:buChar char="○"/>
            </a:pPr>
            <a:r>
              <a:rPr b="1" lang="en">
                <a:latin typeface="Montserrat"/>
                <a:ea typeface="Montserrat"/>
                <a:cs typeface="Montserrat"/>
                <a:sym typeface="Montserrat"/>
              </a:rPr>
              <a:t>Mitigation:</a:t>
            </a:r>
            <a:r>
              <a:rPr lang="en">
                <a:latin typeface="Montserrat"/>
                <a:ea typeface="Montserrat"/>
                <a:cs typeface="Montserrat"/>
                <a:sym typeface="Montserrat"/>
              </a:rPr>
              <a:t> A lot of communication, d</a:t>
            </a:r>
            <a:r>
              <a:rPr lang="en" sz="1400">
                <a:latin typeface="Montserrat"/>
                <a:ea typeface="Montserrat"/>
                <a:cs typeface="Montserrat"/>
                <a:sym typeface="Montserrat"/>
              </a:rPr>
              <a:t>ivide work out to play to </a:t>
            </a:r>
            <a:r>
              <a:rPr lang="en">
                <a:latin typeface="Montserrat"/>
                <a:ea typeface="Montserrat"/>
                <a:cs typeface="Montserrat"/>
                <a:sym typeface="Montserrat"/>
              </a:rPr>
              <a:t>individual </a:t>
            </a:r>
            <a:r>
              <a:rPr lang="en" sz="1400">
                <a:latin typeface="Montserrat"/>
                <a:ea typeface="Montserrat"/>
                <a:cs typeface="Montserrat"/>
                <a:sym typeface="Montserrat"/>
              </a:rPr>
              <a:t>strengths</a:t>
            </a:r>
            <a:r>
              <a:rPr lang="en">
                <a:latin typeface="Montserrat"/>
                <a:ea typeface="Montserrat"/>
                <a:cs typeface="Montserrat"/>
                <a:sym typeface="Montserrat"/>
              </a:rPr>
              <a:t>, &amp;</a:t>
            </a:r>
            <a:r>
              <a:rPr lang="en" sz="1400">
                <a:latin typeface="Montserrat"/>
                <a:ea typeface="Montserrat"/>
                <a:cs typeface="Montserrat"/>
                <a:sym typeface="Montserrat"/>
              </a:rPr>
              <a:t> help each other</a:t>
            </a:r>
            <a:r>
              <a:rPr lang="en">
                <a:latin typeface="Montserrat"/>
                <a:ea typeface="Montserrat"/>
                <a:cs typeface="Montserrat"/>
                <a:sym typeface="Montserrat"/>
              </a:rPr>
              <a:t> out when needed. </a:t>
            </a:r>
            <a:endParaRPr>
              <a:latin typeface="Montserrat"/>
              <a:ea typeface="Montserrat"/>
              <a:cs typeface="Montserrat"/>
              <a:sym typeface="Montserrat"/>
            </a:endParaRPr>
          </a:p>
          <a:p>
            <a:pPr indent="-342900" lvl="0" marL="457200" rtl="0" algn="l">
              <a:spcBef>
                <a:spcPts val="0"/>
              </a:spcBef>
              <a:spcAft>
                <a:spcPts val="0"/>
              </a:spcAft>
              <a:buSzPts val="1800"/>
              <a:buFont typeface="Montserrat"/>
              <a:buChar char="●"/>
            </a:pPr>
            <a:r>
              <a:rPr b="1" lang="en">
                <a:latin typeface="Montserrat"/>
                <a:ea typeface="Montserrat"/>
                <a:cs typeface="Montserrat"/>
                <a:sym typeface="Montserrat"/>
              </a:rPr>
              <a:t>Time management</a:t>
            </a:r>
            <a:endParaRPr b="1">
              <a:latin typeface="Montserrat"/>
              <a:ea typeface="Montserrat"/>
              <a:cs typeface="Montserrat"/>
              <a:sym typeface="Montserrat"/>
            </a:endParaRPr>
          </a:p>
          <a:p>
            <a:pPr indent="-317500" lvl="1" marL="914400" rtl="0" algn="l">
              <a:spcBef>
                <a:spcPts val="0"/>
              </a:spcBef>
              <a:spcAft>
                <a:spcPts val="0"/>
              </a:spcAft>
              <a:buSzPts val="1400"/>
              <a:buFont typeface="Montserrat"/>
              <a:buChar char="○"/>
            </a:pPr>
            <a:r>
              <a:rPr lang="en">
                <a:latin typeface="Montserrat"/>
                <a:ea typeface="Montserrat"/>
                <a:cs typeface="Montserrat"/>
                <a:sym typeface="Montserrat"/>
              </a:rPr>
              <a:t>Our actual development time was less than one month. As a result, our last weeks were very intense.</a:t>
            </a:r>
            <a:endParaRPr>
              <a:latin typeface="Montserrat"/>
              <a:ea typeface="Montserrat"/>
              <a:cs typeface="Montserrat"/>
              <a:sym typeface="Montserrat"/>
            </a:endParaRPr>
          </a:p>
          <a:p>
            <a:pPr indent="-317500" lvl="1" marL="914400" rtl="0" algn="l">
              <a:spcBef>
                <a:spcPts val="0"/>
              </a:spcBef>
              <a:spcAft>
                <a:spcPts val="0"/>
              </a:spcAft>
              <a:buSzPts val="1400"/>
              <a:buFont typeface="Montserrat"/>
              <a:buChar char="○"/>
            </a:pPr>
            <a:r>
              <a:rPr lang="en">
                <a:latin typeface="Montserrat"/>
                <a:ea typeface="Montserrat"/>
                <a:cs typeface="Montserrat"/>
                <a:sym typeface="Montserrat"/>
              </a:rPr>
              <a:t>In retrospect, we could have finished the design phase a little earlier and started coding a little sooner.</a:t>
            </a:r>
            <a:endParaRPr>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139" name="Shape 139"/>
        <p:cNvGrpSpPr/>
        <p:nvPr/>
      </p:nvGrpSpPr>
      <p:grpSpPr>
        <a:xfrm>
          <a:off x="0" y="0"/>
          <a:ext cx="0" cy="0"/>
          <a:chOff x="0" y="0"/>
          <a:chExt cx="0" cy="0"/>
        </a:xfrm>
      </p:grpSpPr>
      <p:sp>
        <p:nvSpPr>
          <p:cNvPr id="140" name="Google Shape;140;p2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Montserrat"/>
                <a:ea typeface="Montserrat"/>
                <a:cs typeface="Montserrat"/>
                <a:sym typeface="Montserrat"/>
              </a:rPr>
              <a:t>Reflection - Team Dynamics</a:t>
            </a:r>
            <a:endParaRPr/>
          </a:p>
        </p:txBody>
      </p:sp>
      <p:sp>
        <p:nvSpPr>
          <p:cNvPr id="141" name="Google Shape;141;p25"/>
          <p:cNvSpPr txBox="1"/>
          <p:nvPr>
            <p:ph idx="1" type="body"/>
          </p:nvPr>
        </p:nvSpPr>
        <p:spPr>
          <a:xfrm>
            <a:off x="460950" y="2021275"/>
            <a:ext cx="8222100" cy="27102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Font typeface="Montserrat"/>
              <a:buChar char="●"/>
            </a:pPr>
            <a:r>
              <a:rPr b="1" lang="en" sz="2000">
                <a:latin typeface="Montserrat"/>
                <a:ea typeface="Montserrat"/>
                <a:cs typeface="Montserrat"/>
                <a:sym typeface="Montserrat"/>
              </a:rPr>
              <a:t>Collaborative Learning / Problem Solving</a:t>
            </a:r>
            <a:endParaRPr b="1" sz="2000">
              <a:latin typeface="Montserrat"/>
              <a:ea typeface="Montserrat"/>
              <a:cs typeface="Montserrat"/>
              <a:sym typeface="Montserrat"/>
            </a:endParaRPr>
          </a:p>
          <a:p>
            <a:pPr indent="-342900" lvl="1" marL="914400" rtl="0" algn="l">
              <a:spcBef>
                <a:spcPts val="0"/>
              </a:spcBef>
              <a:spcAft>
                <a:spcPts val="0"/>
              </a:spcAft>
              <a:buClr>
                <a:srgbClr val="737373"/>
              </a:buClr>
              <a:buSzPts val="1800"/>
              <a:buFont typeface="Montserrat"/>
              <a:buChar char="○"/>
            </a:pPr>
            <a:r>
              <a:rPr lang="en" sz="1600">
                <a:solidFill>
                  <a:srgbClr val="737373"/>
                </a:solidFill>
                <a:latin typeface="Montserrat"/>
                <a:ea typeface="Montserrat"/>
                <a:cs typeface="Montserrat"/>
                <a:sym typeface="Montserrat"/>
              </a:rPr>
              <a:t>Although our team members had different skill sets and experience levels, everyone was willing to help each other whenever someone had trouble understanding a topic from the course. Working together made it easier to solve problems and learn from one another.</a:t>
            </a:r>
            <a:endParaRPr sz="1800">
              <a:solidFill>
                <a:srgbClr val="737373"/>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145" name="Shape 145"/>
        <p:cNvGrpSpPr/>
        <p:nvPr/>
      </p:nvGrpSpPr>
      <p:grpSpPr>
        <a:xfrm>
          <a:off x="0" y="0"/>
          <a:ext cx="0" cy="0"/>
          <a:chOff x="0" y="0"/>
          <a:chExt cx="0" cy="0"/>
        </a:xfrm>
      </p:grpSpPr>
      <p:sp>
        <p:nvSpPr>
          <p:cNvPr id="146" name="Google Shape;146;p2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Montserrat"/>
                <a:ea typeface="Montserrat"/>
                <a:cs typeface="Montserrat"/>
                <a:sym typeface="Montserrat"/>
              </a:rPr>
              <a:t>Reflection - Technical Challenges</a:t>
            </a:r>
            <a:endParaRPr>
              <a:latin typeface="Montserrat"/>
              <a:ea typeface="Montserrat"/>
              <a:cs typeface="Montserrat"/>
              <a:sym typeface="Montserrat"/>
            </a:endParaRPr>
          </a:p>
        </p:txBody>
      </p:sp>
      <p:sp>
        <p:nvSpPr>
          <p:cNvPr id="147" name="Google Shape;147;p26"/>
          <p:cNvSpPr txBox="1"/>
          <p:nvPr>
            <p:ph idx="1" type="body"/>
          </p:nvPr>
        </p:nvSpPr>
        <p:spPr>
          <a:xfrm>
            <a:off x="471900" y="1919075"/>
            <a:ext cx="8222100" cy="30093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Font typeface="Montserrat"/>
              <a:buChar char="●"/>
            </a:pPr>
            <a:r>
              <a:rPr b="1" lang="en" sz="1900">
                <a:latin typeface="Montserrat"/>
                <a:ea typeface="Montserrat"/>
                <a:cs typeface="Montserrat"/>
                <a:sym typeface="Montserrat"/>
              </a:rPr>
              <a:t>Technical dependencies and different time zones</a:t>
            </a:r>
            <a:endParaRPr b="1" sz="1900">
              <a:latin typeface="Montserrat"/>
              <a:ea typeface="Montserrat"/>
              <a:cs typeface="Montserrat"/>
              <a:sym typeface="Montserrat"/>
            </a:endParaRPr>
          </a:p>
          <a:p>
            <a:pPr indent="-323850" lvl="1" marL="914400" rtl="0" algn="l">
              <a:spcBef>
                <a:spcPts val="0"/>
              </a:spcBef>
              <a:spcAft>
                <a:spcPts val="0"/>
              </a:spcAft>
              <a:buSzPts val="1500"/>
              <a:buFont typeface="Montserrat"/>
              <a:buChar char="○"/>
            </a:pPr>
            <a:r>
              <a:rPr lang="en" sz="1500">
                <a:latin typeface="Montserrat"/>
                <a:ea typeface="Montserrat"/>
                <a:cs typeface="Montserrat"/>
                <a:sym typeface="Montserrat"/>
              </a:rPr>
              <a:t>There were several technical dependencies (ex: back-end, DB, and methods had to be finished to implement front-end features), waiting to merge PRs, etc.</a:t>
            </a:r>
            <a:endParaRPr sz="1500">
              <a:latin typeface="Montserrat"/>
              <a:ea typeface="Montserrat"/>
              <a:cs typeface="Montserrat"/>
              <a:sym typeface="Montserrat"/>
            </a:endParaRPr>
          </a:p>
          <a:p>
            <a:pPr indent="-323850" lvl="1" marL="914400" rtl="0" algn="l">
              <a:spcBef>
                <a:spcPts val="0"/>
              </a:spcBef>
              <a:spcAft>
                <a:spcPts val="0"/>
              </a:spcAft>
              <a:buSzPts val="1500"/>
              <a:buFont typeface="Montserrat"/>
              <a:buChar char="○"/>
            </a:pPr>
            <a:r>
              <a:rPr b="1" lang="en" sz="1500">
                <a:latin typeface="Montserrat"/>
                <a:ea typeface="Montserrat"/>
                <a:cs typeface="Montserrat"/>
                <a:sym typeface="Montserrat"/>
              </a:rPr>
              <a:t>Mitigation:</a:t>
            </a:r>
            <a:r>
              <a:rPr lang="en" sz="1500">
                <a:latin typeface="Montserrat"/>
                <a:ea typeface="Montserrat"/>
                <a:cs typeface="Montserrat"/>
                <a:sym typeface="Montserrat"/>
              </a:rPr>
              <a:t> Weekly team meeting to regroup and daily communication on Discord</a:t>
            </a:r>
            <a:endParaRPr sz="1500">
              <a:latin typeface="Montserrat"/>
              <a:ea typeface="Montserrat"/>
              <a:cs typeface="Montserrat"/>
              <a:sym typeface="Montserrat"/>
            </a:endParaRPr>
          </a:p>
          <a:p>
            <a:pPr indent="-349250" lvl="0" marL="457200" rtl="0" algn="l">
              <a:spcBef>
                <a:spcPts val="0"/>
              </a:spcBef>
              <a:spcAft>
                <a:spcPts val="0"/>
              </a:spcAft>
              <a:buSzPts val="1900"/>
              <a:buFont typeface="Montserrat"/>
              <a:buChar char="●"/>
            </a:pPr>
            <a:r>
              <a:rPr b="1" lang="en" sz="1900">
                <a:latin typeface="Montserrat"/>
                <a:ea typeface="Montserrat"/>
                <a:cs typeface="Montserrat"/>
                <a:sym typeface="Montserrat"/>
              </a:rPr>
              <a:t>Great learning experience</a:t>
            </a:r>
            <a:endParaRPr b="1" sz="1900">
              <a:latin typeface="Montserrat"/>
              <a:ea typeface="Montserrat"/>
              <a:cs typeface="Montserrat"/>
              <a:sym typeface="Montserrat"/>
            </a:endParaRPr>
          </a:p>
          <a:p>
            <a:pPr indent="-323850" lvl="1" marL="914400" rtl="0" algn="l">
              <a:spcBef>
                <a:spcPts val="0"/>
              </a:spcBef>
              <a:spcAft>
                <a:spcPts val="0"/>
              </a:spcAft>
              <a:buSzPts val="1500"/>
              <a:buFont typeface="Montserrat"/>
              <a:buChar char="○"/>
            </a:pPr>
            <a:r>
              <a:rPr lang="en" sz="1500">
                <a:latin typeface="Montserrat"/>
                <a:ea typeface="Montserrat"/>
                <a:cs typeface="Montserrat"/>
                <a:sym typeface="Montserrat"/>
              </a:rPr>
              <a:t>Despite unfamiliarity with tools, we managed to deliver all core features.</a:t>
            </a:r>
            <a:endParaRPr sz="1500">
              <a:latin typeface="Montserrat"/>
              <a:ea typeface="Montserrat"/>
              <a:cs typeface="Montserrat"/>
              <a:sym typeface="Montserrat"/>
            </a:endParaRPr>
          </a:p>
          <a:p>
            <a:pPr indent="-323850" lvl="1" marL="914400" rtl="0" algn="l">
              <a:spcBef>
                <a:spcPts val="0"/>
              </a:spcBef>
              <a:spcAft>
                <a:spcPts val="0"/>
              </a:spcAft>
              <a:buSzPts val="1500"/>
              <a:buFont typeface="Montserrat"/>
              <a:buChar char="○"/>
            </a:pPr>
            <a:r>
              <a:rPr lang="en" sz="1500">
                <a:latin typeface="Montserrat"/>
                <a:ea typeface="Montserrat"/>
                <a:cs typeface="Montserrat"/>
                <a:sym typeface="Montserrat"/>
              </a:rPr>
              <a:t>This project has taught us how to build a software product, from a mere idea to a functional and scalable prototype.  </a:t>
            </a:r>
            <a:endParaRPr sz="1500">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151" name="Shape 151"/>
        <p:cNvGrpSpPr/>
        <p:nvPr/>
      </p:nvGrpSpPr>
      <p:grpSpPr>
        <a:xfrm>
          <a:off x="0" y="0"/>
          <a:ext cx="0" cy="0"/>
          <a:chOff x="0" y="0"/>
          <a:chExt cx="0" cy="0"/>
        </a:xfrm>
      </p:grpSpPr>
      <p:sp>
        <p:nvSpPr>
          <p:cNvPr id="152" name="Google Shape;152;p27"/>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Montserrat"/>
                <a:ea typeface="Montserrat"/>
                <a:cs typeface="Montserrat"/>
                <a:sym typeface="Montserrat"/>
              </a:rPr>
              <a:t>Questions?</a:t>
            </a:r>
            <a:endParaRPr>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52F2"/>
        </a:solidFill>
      </p:bgPr>
    </p:bg>
    <p:spTree>
      <p:nvGrpSpPr>
        <p:cNvPr id="156" name="Shape 156"/>
        <p:cNvGrpSpPr/>
        <p:nvPr/>
      </p:nvGrpSpPr>
      <p:grpSpPr>
        <a:xfrm>
          <a:off x="0" y="0"/>
          <a:ext cx="0" cy="0"/>
          <a:chOff x="0" y="0"/>
          <a:chExt cx="0" cy="0"/>
        </a:xfrm>
      </p:grpSpPr>
      <p:sp>
        <p:nvSpPr>
          <p:cNvPr id="157" name="Google Shape;157;p28"/>
          <p:cNvSpPr txBox="1"/>
          <p:nvPr>
            <p:ph type="title"/>
          </p:nvPr>
        </p:nvSpPr>
        <p:spPr>
          <a:xfrm>
            <a:off x="1416775" y="526350"/>
            <a:ext cx="6227100" cy="40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Montserrat"/>
                <a:ea typeface="Montserrat"/>
                <a:cs typeface="Montserrat"/>
                <a:sym typeface="Montserrat"/>
              </a:rPr>
              <a:t>Thank You!</a:t>
            </a:r>
            <a:endParaRPr>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